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242d52a9-ded1-cea1-57e7-2520c9800d33}">
          <p14:sldIdLst>
            <p14:sldId id="256"/>
          </p14:sldIdLst>
        </p14:section>
        <p14:section name="Проблема" id="{7ae6aecb-e6bd-8e0f-9c40-2d79044acbb4}">
          <p14:sldIdLst>
            <p14:sldId id="257"/>
            <p14:sldId id="258"/>
          </p14:sldIdLst>
        </p14:section>
        <p14:section name="Команда" id="{0d58ae52-456b-d8db-558e-84b981e51db4}">
          <p14:sldIdLst>
            <p14:sldId id="259"/>
          </p14:sldIdLst>
        </p14:section>
        <p14:section name="Цели и задачи" id="{41ea5187-19df-f218-f2b4-2280dd51a556}">
          <p14:sldIdLst>
            <p14:sldId id="260"/>
          </p14:sldIdLst>
        </p14:section>
        <p14:section name="Решение" id="{3eb709b1-c4db-7b67-d6e6-4e5d692e3014}">
          <p14:sldIdLst>
            <p14:sldId id="261"/>
            <p14:sldId id="262"/>
            <p14:sldId id="263"/>
            <p14:sldId id="264"/>
          </p14:sldIdLst>
        </p14:section>
        <p14:section name="Расчёты" id="{98a4114c-7801-2b0d-c7dd-7aa93c4ac0cb}">
          <p14:sldIdLst>
            <p14:sldId id="265"/>
            <p14:sldId id="266"/>
            <p14:sldId id="267"/>
          </p14:sldIdLst>
        </p14:section>
        <p14:section name="Рынок и планы" id="{c1842543-1e6a-7c14-4c93-78e3d8497dc5}">
          <p14:sldIdLst>
            <p14:sldId id="268"/>
            <p14:sldId id="269"/>
          </p14:sldIdLst>
        </p14:section>
        <p14:section name="Итог" id="{9cba5613-438a-c4cc-22a2-4bfb558fd5f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17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01722"/>
                </a:solidFill>
                <a:latin typeface="+mn-lt"/>
              </a:rPr>
              <a:t>Пропускная способность в пиковый час, чел/ч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Пиковый час</c:v>
                </c:pt>
              </c:strCache>
            </c:strRef>
          </c:tx>
          <c:spPr>
            <a:solidFill>
              <a:srgbClr val="6B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17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B8CF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Без системы</c:v>
                  </c:pt>
                  <c:pt idx="1">
                    <c:v>С системой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796</c:v>
                </c:pt>
                <c:pt idx="1">
                  <c:v>891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17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17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01722"/>
                </a:solidFill>
                <a:latin typeface="+mn-lt"/>
              </a:rPr>
              <a:t>Насколько параметр двигает итоговое время, % 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Размах результата</c:v>
                </c:pt>
              </c:strCache>
            </c:strRef>
          </c:tx>
          <c:spPr>
            <a:solidFill>
              <a:srgbClr val="4B8CF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17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Число людей в корпусе</c:v>
                  </c:pt>
                  <c:pt idx="1">
                    <c:v>Точность камер</c:v>
                  </c:pt>
                  <c:pt idx="2">
                    <c:v>Число лифтов</c:v>
                  </c:pt>
                  <c:pt idx="3">
                    <c:v>Доля следующих совету</c:v>
                  </c:pt>
                  <c:pt idx="4">
                    <c:v>Время подъёма пешком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4.9</c:v>
                </c:pt>
                <c:pt idx="1">
                  <c:v>8.9</c:v>
                </c:pt>
                <c:pt idx="2">
                  <c:v>10.7</c:v>
                </c:pt>
                <c:pt idx="3">
                  <c:v>52</c:v>
                </c:pt>
                <c:pt idx="4">
                  <c:v>55.6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017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Корпус 7 на Мельникайте 70: шестнадцать этажей, шесть лифтов, из них работают три — первый, второй и шестой. Проект называется TIU GO: это мини-приложение в Telegram и MAX плюс техническая часть на самих лифтах.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взяты из параметров корпуса: 1150 человек, по четыре поездки в день — это 4600 поездок. Три кабины увозят 522 человека в час, а в худший пик, после второй пары, к лифтам приходит 2070. Разрыв четырёхкратный, и очередь не рассасывается.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расчёт по модели массового обслуживания: мы перебрали число кабин от одной до шестнадцати. Пока их меньше двенадцати, очередь формально растёт без предела. Чтобы ждать меньше минуты, нужно тринадцать лифтов — достроить их в готовом здании невозможно. Отсюда вывод: сокращать надо не очередь, а потери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человек, группа ИСАУБ-26-1. Инженерная часть — камера и логика остановок, разработка — приложение, сервер и расчётные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здесь — что каждая задача проверяется числом. Эффект посчитан на модели до внедрения, а не заявлен на словах.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части решают две разные потери. Приложение убирает бесполезное ожидание человека: он заранее видит, стоит ли спускаться к лифтам. Техническая часть убирает бесполезную остановку лифта: полная кабина не тормозит на вызове, в который всё равно никто не войдёт.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реальный экран приложения, а не макет. Видно статус всех шести лифтов, очередь на первом этаже и рекомендацию. Приложение живёт внутри Telegram и MAX — устанавливать ничего не нужно, и это принципиально: барьер установки убил бы всю идею.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Сравнивается полное время: ожидание плюс поездка против подъёма пешком. К времени добавляются комфорт и польза для здоровья, дальше логит-модель даёт вероятность выбора. Для третьего этажа пешком быстрее, с седьмого — уже лифт. Если совету следуют семь человек из десяти, нагрузка на лифты в пик падает на 27 процентов.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Камера считает людей в кабине. Она ошибается: три процента ложных срабатываний, пять процентов пропусков — это заложено в модель, а не проигнорировано. Решение принимается с гистерезисом и запасом в два места, иначе на границе вместимости система дребезжала бы. По расчёту 72 процента проездов мимо вызова обоснованы.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Техническая модель отвечает на вопрос «видит ли камера и правильно ли решает система», социальная — «как ведут себя люди и сколько кабин нужно». Все параметры корпуса лежат в одном файле, и отдельная проверка следит, чтобы модели не разошлись между собой.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Пятьсот прогонов учебного дня. В обоих режимах одни и те же пассажиры и одно зерно случайности — разница только в правиле остановки. Пропускная способность в пик растёт почти на двенадцать процентов, ожидание падает на двадцать, а бесполезные остановки почти исчезают: с 588 до 13 за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 чувствительности: каждый параметр менялся в разумных границах, остальные оставались на месте. Поведение людей двигает результат на 52 процента, число лифтов — всего на 11. Это и есть обоснование, почему приложение важнее оборудования.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Существующие решения сделаны для службы эксплуатации: пассажир в них не пользователь. Наша ниша — интерфейс именно для пассажира конкретного корпуса плюс лёгкая техническая часть, которая не требует замены оборудования.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Левая колонка — то, что уже работает и что можно показать прямо сейчас. Правая — план. Важно, что следующий шаг не требует закупки: одна камера в одной кабине подтвердит или опровергнет расчёт.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Короткий вывод: количество лифтов изменить нельзя, а количество потерянного времени — можно. Три числа на слайде — результат пятисот прогонов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8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240280"/>
            <a:ext cx="8412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0332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TIU GO · корпус 7, Мельникайте 70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8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364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TIU GO · корпус 7, Мельникайте 70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8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45920"/>
            <a:ext cx="108813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5727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200" kern="0" dirty="0">
                <a:solidFill>
                  <a:schemeClr val="accent1"/>
                </a:solidFill>
              </a:rPr>
              <a:t>Проект команды ИСАУБ-26-1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2402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TIU GO</a:t>
            </a:r>
            <a:endParaRPr lang="en-US" sz="7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703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Мониторинг лифтов корпуса 7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2452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accent5"/>
                </a:solidFill>
              </a:rPr>
              <a:t>Мельникайте 70 · 16 этажей · 6 лифтов · 1 150 человек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4892040"/>
            <a:ext cx="10881360" cy="1115568"/>
          </a:xfrm>
          <a:prstGeom prst="roundRect">
            <a:avLst>
              <a:gd name="adj" fmla="val 6557"/>
            </a:avLst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50976" y="5047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spc="100" kern="0" dirty="0">
                <a:solidFill>
                  <a:schemeClr val="accent5"/>
                </a:solidFill>
              </a:rPr>
              <a:t>Команда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5349240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Илюшкин Дмитрий · Кузнецов Сергей · Никитин Матвей · Роденко Тимофей · Беленов Егор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723376" y="248716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650224" y="27980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35440" y="248716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62288" y="27980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747504" y="248716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74352" y="27980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259568" y="248716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186416" y="27980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771632" y="2487168"/>
            <a:ext cx="237744" cy="23774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698480" y="27980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283696" y="248716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210544" y="279806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723376" y="32004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работают 3 из 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происходит в корпусе 7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3444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32688" y="1792224"/>
            <a:ext cx="146304" cy="14630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2688" y="2029968"/>
            <a:ext cx="285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из 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2898648"/>
            <a:ext cx="285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лифтов работают. Остальные три стоят, и починить их проектом нельзя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58640" y="1481328"/>
            <a:ext cx="3444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651248" y="1792224"/>
            <a:ext cx="146304" cy="14630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51248" y="2029968"/>
            <a:ext cx="285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4 600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51248" y="2898648"/>
            <a:ext cx="285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поездок в учебный день: 1 150 человек по 4 поездки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77200" y="1481328"/>
            <a:ext cx="34442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8369808" y="1792224"/>
            <a:ext cx="146304" cy="14630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69808" y="2029968"/>
            <a:ext cx="285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13:05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369808" y="2898648"/>
            <a:ext cx="2859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обеденный пик: четверть суточного потока за сорок минут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858768"/>
            <a:ext cx="108813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0976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100" kern="0" dirty="0">
                <a:solidFill>
                  <a:schemeClr val="accent5"/>
                </a:solidFill>
              </a:rPr>
              <a:t>Спрос против возможностей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50976" y="43342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522 чел/ч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   увозят три кабины   </a:t>
            </a:r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chemeClr val="accent5"/>
                </a:solidFill>
              </a:rPr>
              <a:t>·</a:t>
            </a:r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2 070 чел/ч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   приходит в худший пик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532180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0" name="Shape 17"/>
          <p:cNvSpPr/>
          <p:nvPr/>
        </p:nvSpPr>
        <p:spPr>
          <a:xfrm>
            <a:off x="914400" y="5623560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298448" y="5394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Разрыв четырёхкратный. Очередь внизу не рассасывается сама, а человек узнаёт об этом, только когда уже спустился к лифтам.</a:t>
            </a:r>
            <a:endParaRPr lang="en-US" sz="1350" dirty="0"/>
          </a:p>
        </p:txBody>
      </p:sp>
      <p:sp>
        <p:nvSpPr>
          <p:cNvPr id="22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Почему новые лифты не помогут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4846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05840" y="1892808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34015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лифтов нужно, чтобы в худший пик ожидание не превышало минуты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527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spc="100" kern="0" dirty="0">
                <a:solidFill>
                  <a:schemeClr val="accent5"/>
                </a:solidFill>
              </a:rPr>
              <a:t>Ожидание в пике при разном числе кабин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1938528"/>
            <a:ext cx="54864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254496" y="2148840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01968" y="19385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3 лифта — сейчас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1938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очередь растёт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2633472"/>
            <a:ext cx="54864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6254496" y="2843784"/>
            <a:ext cx="155448" cy="1554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01968" y="263347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6 лифтов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263347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очередь растёт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35040" y="3328416"/>
            <a:ext cx="54864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6254496" y="3538728"/>
            <a:ext cx="155448" cy="1554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01968" y="33284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12 лифтов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332841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3"/>
                </a:solidFill>
              </a:rPr>
              <a:t>180 секунд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35040" y="4023360"/>
            <a:ext cx="54864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1" name="Shape 18"/>
          <p:cNvSpPr/>
          <p:nvPr/>
        </p:nvSpPr>
        <p:spPr>
          <a:xfrm>
            <a:off x="6254496" y="4233672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01968" y="40233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13 лифтов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0" y="4023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13 секунд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5102352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" y="5404104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298448" y="5175504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Достроить десять шахт в готовом здании невозможно. Значит, уменьшать нужно не очередь, а две потери: время, которое человек ждёт зря, и время, которое лифт тратит зря.</a:t>
            </a:r>
            <a:endParaRPr lang="en-US" sz="1350" dirty="0"/>
          </a:p>
        </p:txBody>
      </p:sp>
      <p:sp>
        <p:nvSpPr>
          <p:cNvPr id="27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Наша команда</a:t>
            </a:r>
            <a:endParaRPr lang="en-US" sz="3200" dirty="0"/>
          </a:p>
        </p:txBody>
      </p:sp>
      <p:pic>
        <p:nvPicPr>
          <p:cNvPr id="4" name="photo-1" descr="/Users/a1111/Desktop/TIU GO/presentation/assets/team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55648"/>
            <a:ext cx="1755648" cy="1755648"/>
          </a:xfrm>
          <a:prstGeom prst="ellipse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Помощник инженера</a:t>
            </a:r>
            <a:endParaRPr lang="en-US" sz="1400" dirty="0"/>
          </a:p>
        </p:txBody>
      </p:sp>
      <p:pic>
        <p:nvPicPr>
          <p:cNvPr id="6" name="photo-2" descr="/Users/a1111/Desktop/TIU GO/presentation/assets/team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508" y="1755648"/>
            <a:ext cx="1755648" cy="1755648"/>
          </a:xfrm>
          <a:prstGeom prst="ellipse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784348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Тимлид</a:t>
            </a:r>
            <a:endParaRPr lang="en-US" sz="1400" dirty="0"/>
          </a:p>
        </p:txBody>
      </p:sp>
      <p:pic>
        <p:nvPicPr>
          <p:cNvPr id="8" name="photo-3" descr="/Users/a1111/Desktop/TIU GO/presentation/assets/team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1755648"/>
            <a:ext cx="1755648" cy="1755648"/>
          </a:xfrm>
          <a:prstGeom prst="ellipse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065776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Главный инженер</a:t>
            </a:r>
            <a:endParaRPr lang="en-US" sz="1400" dirty="0"/>
          </a:p>
        </p:txBody>
      </p:sp>
      <p:pic>
        <p:nvPicPr>
          <p:cNvPr id="10" name="photo-4" descr="/Users/a1111/Desktop/TIU GO/presentation/assets/team4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1755648"/>
            <a:ext cx="1755648" cy="1755648"/>
          </a:xfrm>
          <a:prstGeom prst="ellipse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7347204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Ведущий разработчик</a:t>
            </a:r>
            <a:endParaRPr lang="en-US" sz="1400" dirty="0"/>
          </a:p>
        </p:txBody>
      </p:sp>
      <p:pic>
        <p:nvPicPr>
          <p:cNvPr id="12" name="photo-5" descr="/Users/a1111/Desktop/TIU GO/presentation/assets/team5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2" y="1755648"/>
            <a:ext cx="1755648" cy="1755648"/>
          </a:xfrm>
          <a:prstGeom prst="ellipse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9628632" y="3712464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tx1"/>
                </a:solidFill>
              </a:rPr>
              <a:t>Помощник разработчика</a:t>
            </a:r>
            <a:endParaRPr lang="en-US" sz="1400" dirty="0"/>
          </a:p>
        </p:txBody>
      </p:sp>
      <p:sp>
        <p:nvSpPr>
          <p:cNvPr id="14" name="Text 6"/>
          <p:cNvSpPr txBox="1"/>
          <p:nvPr/>
        </p:nvSpPr>
        <p:spPr>
          <a:xfrm>
            <a:off x="640080" y="45354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Группа ИСАУБ-26-1 · Тюменский индустриальный университет</a:t>
            </a:r>
            <a:endParaRPr lang="en-US" sz="1300" dirty="0"/>
          </a:p>
        </p:txBody>
      </p:sp>
      <p:sp>
        <p:nvSpPr>
          <p:cNvPr id="15" name="Shape 7"/>
          <p:cNvSpPr/>
          <p:nvPr/>
        </p:nvSpPr>
        <p:spPr>
          <a:xfrm>
            <a:off x="640080" y="523036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6" name="Shape 8"/>
          <p:cNvSpPr/>
          <p:nvPr/>
        </p:nvSpPr>
        <p:spPr>
          <a:xfrm>
            <a:off x="914400" y="553212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9"/>
          <p:cNvSpPr txBox="1"/>
          <p:nvPr/>
        </p:nvSpPr>
        <p:spPr>
          <a:xfrm>
            <a:off x="1298448" y="530352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Инженерная часть отвечает за камеру и логику диспетчеризации, разработка — за приложение и расчётные модели.</a:t>
            </a:r>
            <a:endParaRPr lang="en-US" sz="1350" dirty="0"/>
          </a:p>
        </p:txBody>
      </p:sp>
      <p:sp>
        <p:nvSpPr>
          <p:cNvPr id="18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Цели и задачи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50976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98448" y="16824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350008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Сократить время, которое человек теряет у лифта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Поднять пропускную способность в часы пик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Дать корпусу объективные данные о работе лифтов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09360" y="1481328"/>
            <a:ext cx="5212080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620256" y="1810512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67728" y="16824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350008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Собрать параметры корпуса и построить математические модели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Разработать мини-приложение для Telegram и MAX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Описать техническую часть: камера в кабине и логика остановок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Проверить эффект на симуляции учебного дня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Подготовить внедрение на одном лифте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532180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562356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298448" y="5394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Задачи выстроены так, чтобы каждая проверялась числом: модель считает эффект до внедрения, а не после.</a:t>
            </a:r>
            <a:endParaRPr lang="en-US" sz="1350" dirty="0"/>
          </a:p>
        </p:txBody>
      </p:sp>
      <p:sp>
        <p:nvSpPr>
          <p:cNvPr id="15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Как устроено решение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566160"/>
          </a:xfrm>
          <a:prstGeom prst="roundRect">
            <a:avLst>
              <a:gd name="adj" fmla="val 2564"/>
            </a:avLst>
          </a:prstGeom>
          <a:solidFill>
            <a:schemeClr val="accent6"/>
          </a:solidFill>
          <a:ln/>
        </p:spPr>
      </p:sp>
      <p:sp>
        <p:nvSpPr>
          <p:cNvPr id="5" name="Shape 2"/>
          <p:cNvSpPr/>
          <p:nvPr/>
        </p:nvSpPr>
        <p:spPr>
          <a:xfrm>
            <a:off x="987552" y="1865376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389888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389888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что видит человек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42416" y="2670048"/>
            <a:ext cx="4407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Загруженность всех шести лифтов в реальном времени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Очередь на первом этаже — видно заранее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Совет: ждать лифт или идти пешком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Мини-апп в Telegram и MAX, устанавливать нечего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481328"/>
            <a:ext cx="5212080" cy="3566160"/>
          </a:xfrm>
          <a:prstGeom prst="roundRect">
            <a:avLst>
              <a:gd name="adj" fmla="val 2564"/>
            </a:avLst>
          </a:prstGeom>
          <a:solidFill>
            <a:schemeClr val="accent6"/>
          </a:solidFill>
          <a:ln/>
        </p:spPr>
      </p:sp>
      <p:sp>
        <p:nvSpPr>
          <p:cNvPr id="10" name="Shape 7"/>
          <p:cNvSpPr/>
          <p:nvPr/>
        </p:nvSpPr>
        <p:spPr>
          <a:xfrm>
            <a:off x="6656832" y="1865376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59168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часть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059168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что делает система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711696" y="2670048"/>
            <a:ext cx="4407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Камера в кабине считает пассажиров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Система решает: остановиться на вызове или проехать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Полная кабина не тормозит впустую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Ставится на существующие лифты, без замены оборудования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23036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accent6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553212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98448" y="530352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Первая часть убирает бесполезное ожидание человека, вторая — бесполезную остановку лифта. Вместе они и дают выигрыш.</a:t>
            </a:r>
            <a:endParaRPr lang="en-US" sz="1350" dirty="0"/>
          </a:p>
        </p:txBody>
      </p:sp>
      <p:sp>
        <p:nvSpPr>
          <p:cNvPr id="17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Приложение TIU GO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280160"/>
            <a:ext cx="2834640" cy="48920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pic>
        <p:nvPicPr>
          <p:cNvPr id="5" name="Image 0" descr="/Users/a1111/Desktop/TIU GO/presentation/assets/phone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417320"/>
            <a:ext cx="2203704" cy="4617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23360" y="16093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4389120" y="14813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Все шесть лифтов на одном экране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389120" y="181051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этаж, загрузка кабины, статус работы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023360" y="2450592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389120" y="23225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Очередь на первом этаже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265176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видно до того, как спустился к лифтам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023360" y="3291840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389120" y="316382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Совет «лифт или лестница»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349300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с расчётом времени для вашего этажа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023360" y="413308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389120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Избранные лифты и уведомления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389120" y="433425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приложение напишет, когда кабина освободится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023360" y="497433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389120" y="484632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Три языка, тёмная тема, офлайн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0" y="517550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последние данные сохраняются в кэше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4023360" y="5760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chemeClr val="accent5"/>
                </a:solidFill>
              </a:rPr>
              <a:t>Работает внутри Telegram и MAX: ставить приложение не нужно, достаточно открыть бот.</a:t>
            </a:r>
            <a:endParaRPr lang="en-US" sz="1250" dirty="0"/>
          </a:p>
        </p:txBody>
      </p:sp>
      <p:sp>
        <p:nvSpPr>
          <p:cNvPr id="22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считается совет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356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Приложение сравнивает не расстояние, а полное время: ожидание лифта плюс поездка — против подъёма пешком. К времени добавляются комфорт и польза для здоровья, и из этого считается вероятность выбора.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spc="100" kern="0" dirty="0">
                <a:solidFill>
                  <a:schemeClr val="accent5"/>
                </a:solidFill>
              </a:rPr>
              <a:t>Этаж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spc="100" kern="0" dirty="0">
                <a:solidFill>
                  <a:schemeClr val="accent5"/>
                </a:solidFill>
              </a:rPr>
              <a:t>Лифт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258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spc="100" kern="0" dirty="0">
                <a:solidFill>
                  <a:schemeClr val="accent5"/>
                </a:solidFill>
              </a:rPr>
              <a:t>Лестница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694944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62432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3-й этаж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6243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29 с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6243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24 с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26243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2"/>
                </a:solidFill>
              </a:rPr>
              <a:t>пешком быстрее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337560"/>
            <a:ext cx="694944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33756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7-й этаж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2743200" y="333756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45 с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333756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72 с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333756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1"/>
                </a:solidFill>
              </a:rPr>
              <a:t>лифт быстрее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4050792"/>
            <a:ext cx="6949440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405079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chemeClr val="tx1"/>
                </a:solidFill>
              </a:rPr>
              <a:t>16-й этаж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2743200" y="40507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81 с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40507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180 с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5852160" y="405079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1"/>
                </a:solidFill>
              </a:rPr>
              <a:t>лифт быстрее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863840" y="2258568"/>
            <a:ext cx="3657600" cy="2715768"/>
          </a:xfrm>
          <a:prstGeom prst="roundRect">
            <a:avLst>
              <a:gd name="adj" fmla="val 3367"/>
            </a:avLst>
          </a:prstGeom>
          <a:solidFill>
            <a:schemeClr val="bg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56448" y="2487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Если совету следуют 70 %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156448" y="28072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−27 %</a:t>
            </a:r>
            <a:endParaRPr lang="en-US" sz="4400" dirty="0"/>
          </a:p>
        </p:txBody>
      </p:sp>
      <p:sp>
        <p:nvSpPr>
          <p:cNvPr id="26" name="Text 23"/>
          <p:cNvSpPr txBox="1"/>
          <p:nvPr/>
        </p:nvSpPr>
        <p:spPr>
          <a:xfrm>
            <a:off x="8156448" y="35387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нагрузки на лифты в пик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156448" y="39684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49 секунд экономит каждый, кто получил совет вовремя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32180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9" name="Shape 26"/>
          <p:cNvSpPr/>
          <p:nvPr/>
        </p:nvSpPr>
        <p:spPr>
          <a:xfrm>
            <a:off x="914400" y="562356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298448" y="5394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Смысл не в том, чтобы отправить всех на лестницу, а в том, чтобы человек не стоял в очереди, из которой всё равно уйдёт.</a:t>
            </a:r>
            <a:endParaRPr lang="en-US" sz="1350" dirty="0"/>
          </a:p>
        </p:txBody>
      </p:sp>
      <p:sp>
        <p:nvSpPr>
          <p:cNvPr id="31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Техническая часть: камера и логика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280160"/>
            <a:ext cx="2834640" cy="4892040"/>
          </a:xfrm>
          <a:prstGeom prst="roundRect">
            <a:avLst>
              <a:gd name="adj" fmla="val 3871"/>
            </a:avLst>
          </a:prstGeom>
          <a:solidFill>
            <a:schemeClr val="accent6"/>
          </a:solidFill>
          <a:ln/>
        </p:spPr>
      </p:sp>
      <p:pic>
        <p:nvPicPr>
          <p:cNvPr id="5" name="Image 0" descr="/Users/a1111/Desktop/TIU GO/presentation/assets/phone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1417320"/>
            <a:ext cx="2203704" cy="4617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023360" y="1435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chemeClr val="bg1"/>
                </a:solidFill>
              </a:rPr>
              <a:t>Камера над дверью кабины считает людей, а система решает, стоит ли останавливаться на попутном вызове.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4023360" y="2258568"/>
            <a:ext cx="8046720" cy="676656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4297680" y="225856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Детектор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943600" y="2258568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YOLOv8n, точность map50 = 0,92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023360" y="3099816"/>
            <a:ext cx="8046720" cy="676656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297680" y="309981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Ошибки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3099816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3 % ложных срабатываний, 5 % пропусков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023360" y="3941064"/>
            <a:ext cx="8046720" cy="676656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297680" y="3941064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Решение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0" y="3941064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гистерезис с запасом в 2 места — без дребезга на границе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023360" y="4782312"/>
            <a:ext cx="8046720" cy="676656"/>
          </a:xfrm>
          <a:prstGeom prst="roundRect">
            <a:avLst>
              <a:gd name="adj" fmla="val 10811"/>
            </a:avLst>
          </a:prstGeom>
          <a:solidFill>
            <a:schemeClr val="accent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297680" y="478231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Результат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0" y="4782312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bg1"/>
                </a:solidFill>
              </a:rPr>
              <a:t>обоснованы 72 % проездов мимо вызова: мест в кабине не было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4023360" y="57058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chemeClr val="accent5"/>
                </a:solidFill>
              </a:rPr>
              <a:t>Оборудование ставится на существующие кабины: менять лебёдку или станцию управления не нужно.</a:t>
            </a:r>
            <a:endParaRPr lang="en-US" sz="1250" dirty="0"/>
          </a:p>
        </p:txBody>
      </p:sp>
      <p:sp>
        <p:nvSpPr>
          <p:cNvPr id="20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Две математические модели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50976" y="1810512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9844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298448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семь расчётов плюс отчёт и Excel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5603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Обзор камеры и её слепые зоны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Ошибки детекции: перекрытия и мерцание рамки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Логика «остановиться или проехать»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Физика рейса и время цикла дверей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Симуляция учебного дня, 500 прогонов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Подбор оптимального запаса мест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481328"/>
            <a:ext cx="52120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620256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6772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Социальная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6967728" y="2103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шесть расчётов плюс отчёт и Excel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56032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Очередь к лифтам как система массового обслуживания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Симуляция потока людей по расписанию пар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Функция полезности: лифт или лестница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Чувствительность результата к параметрам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Сколько кабин нужно для заданного ожидания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Отчёт Word и книга Excel с живыми формулами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029200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5330952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98448" y="510235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Обе модели и само приложение читают один файл параметров корпуса, а отдельная проверка следит, чтобы они не разошлись: иначе на защите две модели считали бы разные здания.</a:t>
            </a:r>
            <a:endParaRPr lang="en-US" sz="1350" dirty="0"/>
          </a:p>
        </p:txBody>
      </p:sp>
      <p:sp>
        <p:nvSpPr>
          <p:cNvPr id="17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даёт техническая часть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81328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859536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Без системы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996696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5"/>
                </a:solidFill>
              </a:rPr>
              <a:t>С системой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583680" y="1847088"/>
            <a:ext cx="49377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858000" y="19751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Среднее ожидание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8580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chemeClr val="accent2"/>
                </a:solidFill>
              </a:rPr>
              <a:t>−19,8 %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184708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795 с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9966960" y="184708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637 с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583680" y="2798064"/>
            <a:ext cx="49377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858000" y="29260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Самая длинная очередь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32369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chemeClr val="accent2"/>
                </a:solidFill>
              </a:rPr>
              <a:t>−17 %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2798064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530 чел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2798064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439 чел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583680" y="3749040"/>
            <a:ext cx="49377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858000" y="38770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Бесполезных остановок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chemeClr val="accent2"/>
                </a:solidFill>
              </a:rPr>
              <a:t>−98 %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37490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588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966960" y="374904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13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40080" y="504748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3" name="Shape 19"/>
          <p:cNvSpPr/>
          <p:nvPr/>
        </p:nvSpPr>
        <p:spPr>
          <a:xfrm>
            <a:off x="914400" y="5349240"/>
            <a:ext cx="155448" cy="1554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298448" y="512064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500 прогонов учебного дня: в обоих режимах одни и те же пассажиры и одно зерно случайности, разница только в правиле остановки.</a:t>
            </a:r>
            <a:endParaRPr lang="en-US" sz="1350" dirty="0"/>
          </a:p>
        </p:txBody>
      </p:sp>
      <p:sp>
        <p:nvSpPr>
          <p:cNvPr id="25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сильнее всего влияет на результат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481328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7680960" y="1664208"/>
            <a:ext cx="38404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973568" y="1901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spc="100" kern="0" dirty="0">
                <a:solidFill>
                  <a:schemeClr val="accent5"/>
                </a:solidFill>
              </a:rPr>
              <a:t>Вывод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973568" y="2249424"/>
            <a:ext cx="3255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Поведение людей влияет на результат в пять раз сильнее, чем число кабин.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973568" y="3310128"/>
            <a:ext cx="3255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accent5"/>
                </a:solidFill>
              </a:rPr>
              <a:t>Поэтому приложение — не дополнение к оборудованию, а основная часть решения: оно меняет именно тот параметр, который двигает результат.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532180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562356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298448" y="5394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Вывод проверен перебором: каждый параметр менялся в разумных границах, остальные оставались на месте.</a:t>
            </a:r>
            <a:endParaRPr lang="en-US" sz="1350" dirty="0"/>
          </a:p>
        </p:txBody>
      </p:sp>
      <p:sp>
        <p:nvSpPr>
          <p:cNvPr id="12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Анализ рынка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50976" y="1810512"/>
            <a:ext cx="164592" cy="16459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98448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Лифтовый рынок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322576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Основной путь модернизации — замена лебёдки и станции управления: дорого и останавливает лифт на недели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 учебных корпусах оборудование служит десятилетиями, а бюджет на замену появляется редко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Диспетчеризация ставится ради эксплуатации, а не ради пассажира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1481328"/>
            <a:ext cx="521208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620256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67728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ПО для лифтов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322576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Существующие системы (ОДС, диспетчерские комплексы, «умное здание») рассчитаны на службу эксплуатации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Пассажир в них не является пользователем: он не видит ни очереди, ни загрузки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Мини-приложения в мессенджерах сняли главный барьер — ставить ничего не нужно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736592"/>
            <a:ext cx="10881360" cy="1005840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50976" y="4901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spc="100" kern="0" dirty="0">
                <a:solidFill>
                  <a:schemeClr val="accent5"/>
                </a:solidFill>
              </a:rPr>
              <a:t>Наша ниша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50976" y="517550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Интерфейс для пассажира конкретного корпуса плюс лёгкая техническая часть, которая ставится на существующие лифты.</a:t>
            </a:r>
            <a:endParaRPr lang="en-US" sz="1400" dirty="0"/>
          </a:p>
        </p:txBody>
      </p:sp>
      <p:sp>
        <p:nvSpPr>
          <p:cNvPr id="15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7548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сделано и что дальше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481328"/>
            <a:ext cx="521208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950976" y="1810512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29844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304288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Мини-приложение в Telegram и MAX с расчётом ожидания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Два бота и сервер с API, админка для статусов лифтов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Две математические модели с отчётами Word и Excel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Единый файл параметров корпуса и проверка согласованности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Уведомления, избранное, три языка, офлайн-режим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481328"/>
            <a:ext cx="521208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620256" y="1810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67728" y="16642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077456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Согласовать доступ к данным лифтов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77456" y="2807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Поставить камеру в одну кабину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077456" y="3282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Сверить расчёт с реальными записями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7581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Включить логику на одном лифте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077456" y="4233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Распространить на другие корпуса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5138928"/>
            <a:ext cx="1088136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914400" y="5440680"/>
            <a:ext cx="155448" cy="1554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298448" y="521208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Следующий шаг не требует закупки: одна камера в одной кабине подтверждает или опровергает расчёт.</a:t>
            </a:r>
            <a:endParaRPr lang="en-US" sz="1350" dirty="0"/>
          </a:p>
        </p:txBody>
      </p:sp>
      <p:sp>
        <p:nvSpPr>
          <p:cNvPr id="24" name="Text 1"/>
          <p:cNvSpPr/>
          <p:nvPr>
            <p:ph idx="102" type="body" hasCustomPrompt="1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64224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1887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spc="200" kern="0" dirty="0">
                <a:solidFill>
                  <a:schemeClr val="accent1"/>
                </a:solidFill>
              </a:rPr>
              <a:t>Проект команды ИСАУБ-26-1 · TIU GO</a:t>
            </a:r>
            <a:endParaRPr lang="en-US" sz="13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64592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Лифтов больше не станет.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Потерянного времени — станет меньше.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3931920"/>
            <a:ext cx="3444240" cy="1572768"/>
          </a:xfrm>
          <a:prstGeom prst="roundRect">
            <a:avLst>
              <a:gd name="adj" fmla="val 5814"/>
            </a:avLst>
          </a:prstGeom>
          <a:solidFill>
            <a:schemeClr val="accent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50976" y="4114800"/>
            <a:ext cx="2822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+11,9 %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50976" y="4882896"/>
            <a:ext cx="282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пропускной способности в пик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58640" y="3931920"/>
            <a:ext cx="3444240" cy="1572768"/>
          </a:xfrm>
          <a:prstGeom prst="roundRect">
            <a:avLst>
              <a:gd name="adj" fmla="val 5814"/>
            </a:avLst>
          </a:prstGeom>
          <a:solidFill>
            <a:schemeClr val="accent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669536" y="4114800"/>
            <a:ext cx="2822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−19,8 %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669536" y="4882896"/>
            <a:ext cx="282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среднего ожидания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77200" y="3931920"/>
            <a:ext cx="3444240" cy="1572768"/>
          </a:xfrm>
          <a:prstGeom prst="roundRect">
            <a:avLst>
              <a:gd name="adj" fmla="val 5814"/>
            </a:avLst>
          </a:prstGeom>
          <a:solidFill>
            <a:schemeClr val="accent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88096" y="4114800"/>
            <a:ext cx="2822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 → 13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388096" y="4882896"/>
            <a:ext cx="282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бесполезных остановок за день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Спасибо за внимание. Готовы ответить на вопросы.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U GO">
  <a:themeElements>
    <a:clrScheme name="TIU GO">
      <a:dk1>
        <a:srgbClr val="101722"/>
      </a:dk1>
      <a:lt1>
        <a:srgbClr val="FFFFFF"/>
      </a:lt1>
      <a:dk2>
        <a:srgbClr val="18212E"/>
      </a:dk2>
      <a:lt2>
        <a:srgbClr val="F2F5F9"/>
      </a:lt2>
      <a:accent1>
        <a:srgbClr val="4B8CF7"/>
      </a:accent1>
      <a:accent2>
        <a:srgbClr val="3FB27F"/>
      </a:accent2>
      <a:accent3>
        <a:srgbClr val="E8A33D"/>
      </a:accent3>
      <a:accent4>
        <a:srgbClr val="D9534F"/>
      </a:accent4>
      <a:accent5>
        <a:srgbClr val="6B7A8C"/>
      </a:accent5>
      <a:accent6>
        <a:srgbClr val="2A3647"/>
      </a:accent6>
      <a:hlink>
        <a:srgbClr val="4B8CF7"/>
      </a:hlink>
      <a:folHlink>
        <a:srgbClr val="6B7A8C"/>
      </a:folHlink>
    </a:clrScheme>
    <a:fontScheme name="TIU G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Тюменский индустриальный университет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TIU GO — мониторинг лифтов корпуса 7</dc:title>
  <dc:subject>PptxGenJS Presentation</dc:subject>
  <dc:creator>Команда ИСАУБ-26-1</dc:creator>
  <cp:lastModifiedBy>Команда ИСАУБ-26-1</cp:lastModifiedBy>
  <cp:revision>1</cp:revision>
  <dcterms:created xsi:type="dcterms:W3CDTF">2026-10-11T14:09:16Z</dcterms:created>
  <dcterms:modified xsi:type="dcterms:W3CDTF">2026-10-11T14:09:16Z</dcterms:modified>
</cp:coreProperties>
</file>