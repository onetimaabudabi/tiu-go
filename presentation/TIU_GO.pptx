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242D52A9-DED1-CEA1-57E7-2520C9800D33}">
          <p14:sldIdLst>
            <p14:sldId id="256"/>
          </p14:sldIdLst>
        </p14:section>
        <p14:section name="Проблема" id="{7AE6AECB-E6BD-8E0F-9C40-2D79044ACBB4}">
          <p14:sldIdLst>
            <p14:sldId id="257"/>
            <p14:sldId id="258"/>
          </p14:sldIdLst>
        </p14:section>
        <p14:section name="Команда" id="{0D58AE52-456B-D8DB-558E-84B981E51DB4}">
          <p14:sldIdLst>
            <p14:sldId id="259"/>
          </p14:sldIdLst>
        </p14:section>
        <p14:section name="Цели и задачи" id="{41EA5187-19DF-F218-F2B4-2280DD51A556}">
          <p14:sldIdLst>
            <p14:sldId id="260"/>
          </p14:sldIdLst>
        </p14:section>
        <p14:section name="Решение" id="{3EB709B1-C4DB-7B67-D6E6-4E5D692E3014}">
          <p14:sldIdLst>
            <p14:sldId id="261"/>
            <p14:sldId id="262"/>
          </p14:sldIdLst>
        </p14:section>
        <p14:section name="Расчёты" id="{98A4114C-7801-2B0D-C7DD-7AA93C4AC0CB}">
          <p14:sldIdLst>
            <p14:sldId id="265"/>
            <p14:sldId id="266"/>
            <p14:sldId id="267"/>
          </p14:sldIdLst>
        </p14:section>
        <p14:section name="Рынок и планы" id="{C1842543-1E6A-7C14-4C93-78E3D8497DC5}">
          <p14:sldIdLst>
            <p14:sldId id="268"/>
            <p14:sldId id="269"/>
          </p14:sldIdLst>
        </p14:section>
        <p14:section name="Итог" id="{9CBA5613-438A-C4CC-22A2-4BFB558FD5F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1722"/>
                </a:solidFill>
                <a:latin typeface="+mn-lt"/>
              </a:defRPr>
            </a:pPr>
            <a:r>
              <a:rPr lang="ru-RU" sz="1300" b="0" i="0" u="none" strike="noStrike">
                <a:solidFill>
                  <a:srgbClr val="101722"/>
                </a:solidFill>
                <a:latin typeface="+mn-lt"/>
              </a:rPr>
              <a:t>Пропускная способность в пиковый час, чел/ч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Пиковый час</c:v>
                </c:pt>
              </c:strCache>
            </c:strRef>
          </c:tx>
          <c:spPr>
            <a:solidFill>
              <a:srgbClr val="6B7A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A9-2044-AE00-8C7D646FD96F}"/>
              </c:ext>
            </c:extLst>
          </c:dPt>
          <c:dPt>
            <c:idx val="1"/>
            <c:invertIfNegative val="0"/>
            <c:bubble3D val="0"/>
            <c:spPr>
              <a:solidFill>
                <a:srgbClr val="4B8C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A9-2044-AE00-8C7D646FD96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01722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Без системы</c:v>
                </c:pt>
                <c:pt idx="1">
                  <c:v>С системой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796</c:v>
                </c:pt>
                <c:pt idx="1">
                  <c:v>891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A9-2044-AE00-8C7D646FD9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1722"/>
                </a:solidFill>
                <a:latin typeface="+mn-lt"/>
              </a:defRPr>
            </a:pPr>
            <a:r>
              <a:rPr lang="ru-RU" sz="1300" b="0" i="0" u="none" strike="noStrike">
                <a:solidFill>
                  <a:srgbClr val="101722"/>
                </a:solidFill>
                <a:latin typeface="+mn-lt"/>
              </a:rPr>
              <a:t>Насколько параметр двигает итоговое время, % 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Размах результата</c:v>
                </c:pt>
              </c:strCache>
            </c:strRef>
          </c:tx>
          <c:spPr>
            <a:solidFill>
              <a:srgbClr val="4B8CF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1722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Число людей в корпусе</c:v>
                </c:pt>
                <c:pt idx="1">
                  <c:v>Точность камер</c:v>
                </c:pt>
                <c:pt idx="2">
                  <c:v>Число лифтов</c:v>
                </c:pt>
                <c:pt idx="3">
                  <c:v>Доля следующих совету</c:v>
                </c:pt>
                <c:pt idx="4">
                  <c:v>Время подъёма пешком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8.9</c:v>
                </c:pt>
                <c:pt idx="2">
                  <c:v>10.7</c:v>
                </c:pt>
                <c:pt idx="3">
                  <c:v>52</c:v>
                </c:pt>
                <c:pt idx="4">
                  <c:v>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75-7A41-91CF-DB1E308BFE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69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Корпус 7 на Мельникайте 70: шестнадцать этажей, шесть лифтов, из них работают три — первый, второй и шестой. Проект называется TIU GO: это мини-приложение в Telegram и MAX плюс техническая часть на самих лифтах.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взяты из параметров корпуса: 1150 человек, по четыре поездки в день — это 4600 поездок. Три кабины увозят 522 человека в час, а в худший пик, после второй пары, к лифтам приходит 2070. Разрыв четырёхкратный, и очередь не рассасывается.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расчёт по модели массового обслуживания: мы перебрали число кабин от одной до шестнадцати. Пока их меньше двенадцати, очередь формально растёт без предела. Чтобы ждать меньше минуты, нужно тринадцать лифтов — достроить их в готовом здании невозможно. Отсюда вывод: сокращать надо не очередь, а потери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человек, группа ИСАУБ-26-1. Инженерная часть — камера и логика остановок, разработка — приложение, сервер и расчётные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здесь — что каждая задача проверяется числом. Эффект посчитан на модели до внедрения, а не заявлен на словах.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части решают две разные потери. Приложение убирает бесполезное ожидание человека: он заранее видит, стоит ли спускаться к лифтам. Техническая часть убирает бесполезную остановку лифта: полная кабина не тормозит на вызове, в который всё равно никто не войдёт.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реальный экран приложения, а не макет. Видно статус всех шести лифтов, очередь на первом этаже и рекомендацию. Приложение живёт внутри Telegram и MAX — устанавливать ничего не нужно, и это принципиально: барьер установки убил бы всю идею.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Техническая модель отвечает на вопрос «видит ли камера и правильно ли решает система», социальная — «как ведут себя люди и сколько кабин нужно». Все параметры корпуса лежат в одном файле, и отдельная проверка следит, чтобы модели не разошлись между собой.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Пятьсот прогонов учебного дня. В обоих режимах одни и те же пассажиры и одно зерно случайности — разница только в правиле остановки. Пропускная способность в пик растёт почти на двенадцать процентов, ожидание падает на двадцать, а бесполезные остановки почти исчезают: с 588 до 13 за день.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 чувствительности: каждый параметр менялся в разумных границах, остальные оставались на месте. Поведение людей двигает результат на 52 процента, число лифтов — всего на 11. Это и есть обоснование, почему приложение важнее оборудования.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Существующие решения сделаны для службы эксплуатации: пассажир в них не пользователь. Наша ниша — интерфейс именно для пассажира конкретного корпуса плюс лёгкая техническая часть, которая не требует замены оборудования.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Левая колонка — то, что уже работает и что можно показать прямо сейчас. Правая — план. Важно, что следующий шаг не требует закупки: одна камера в одной кабине подтвердит или опровергнет расчёт.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Короткий вывод: количество лифтов изменить нельзя, а количество потерянного времени — можно. Три числа на слайде — результат пятисот прогонов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8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8412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0332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</a:rPr>
              <a:t>TIU GO · корпус 7, Мельникайте 70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8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</a:rPr>
              <a:t>TIU GO · корпус 7, Мельникайте 70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8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45920"/>
            <a:ext cx="10881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5727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kern="0" spc="200" dirty="0">
                <a:solidFill>
                  <a:schemeClr val="accent1"/>
                </a:solidFill>
              </a:rPr>
              <a:t>Проект команды ИСАУБ-26-1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2402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bg1"/>
                </a:solidFill>
              </a:rPr>
              <a:t>TIU GO</a:t>
            </a:r>
            <a:endParaRPr lang="en-US" sz="72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03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Мониторинг лифтов корпуса 7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2452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Мельникайте 70 · 16 этажей · 6 лифтов · 1 150 человек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115568"/>
          </a:xfrm>
          <a:prstGeom prst="roundRect">
            <a:avLst>
              <a:gd name="adj" fmla="val 6557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50976" y="5047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kern="0" spc="100" dirty="0">
                <a:solidFill>
                  <a:schemeClr val="accent5"/>
                </a:solidFill>
              </a:rPr>
              <a:t>Команда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534924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Илюшкин Дмитрий · Кузнецов Сергей · Никитин Матвей · Роденко Тимофей · Беленов Егор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86416" y="27980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происходит в корпусе 7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3444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32688" y="1792224"/>
            <a:ext cx="146304" cy="1463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2029968"/>
            <a:ext cx="285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из 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2898648"/>
            <a:ext cx="285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лифтов работают. Остальные три стоят, и починить их проектом нельзя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58640" y="1481328"/>
            <a:ext cx="3444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651248" y="1792224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51248" y="2029968"/>
            <a:ext cx="285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4 600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51248" y="2898648"/>
            <a:ext cx="285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поездок в учебный день: 1 150 человек по 4 поездки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77200" y="1481328"/>
            <a:ext cx="3444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369808" y="179222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69808" y="2029968"/>
            <a:ext cx="285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13:05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69808" y="2898648"/>
            <a:ext cx="285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обеденный пик: четверть суточного потока за сорок минут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858768"/>
            <a:ext cx="108813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0976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kern="0" spc="100" dirty="0">
                <a:solidFill>
                  <a:schemeClr val="accent5"/>
                </a:solidFill>
              </a:rPr>
              <a:t>Спрос против возможностей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0976" y="43342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522 чел/ч</a:t>
            </a:r>
            <a:r>
              <a:rPr lang="en-US" sz="1400" dirty="0">
                <a:solidFill>
                  <a:schemeClr val="accent5"/>
                </a:solidFill>
              </a:rPr>
              <a:t>   увозят три кабины   </a:t>
            </a:r>
            <a:r>
              <a:rPr lang="en-US" sz="2000" dirty="0">
                <a:solidFill>
                  <a:schemeClr val="accent5"/>
                </a:solidFill>
              </a:rPr>
              <a:t>·</a:t>
            </a:r>
            <a:r>
              <a:rPr lang="en-US" sz="2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2 070 чел/ч</a:t>
            </a:r>
            <a:r>
              <a:rPr lang="en-US" sz="1400" dirty="0">
                <a:solidFill>
                  <a:schemeClr val="accent5"/>
                </a:solidFill>
              </a:rPr>
              <a:t>   приходит в худший пик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400" y="5623560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298448" y="5394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Разрыв четырёхкратный. Очередь внизу не рассасывается сама, а человек узнаёт об этом, только когда уже спустился к лифтам.</a:t>
            </a:r>
            <a:endParaRPr lang="en-US" sz="1350" dirty="0"/>
          </a:p>
        </p:txBody>
      </p:sp>
      <p:sp>
        <p:nvSpPr>
          <p:cNvPr id="22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Почему новые лифты не помогут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4846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5840" y="189280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34015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лифтов нужно, чтобы в худший пик ожидание не превышало минуты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527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kern="0" spc="100" dirty="0">
                <a:solidFill>
                  <a:schemeClr val="accent5"/>
                </a:solidFill>
              </a:rPr>
              <a:t>Ожидание в пике при разном числе кабин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938528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254496" y="2148840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01968" y="19385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3 лифта — сейчас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1938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очередь растёт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633472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254496" y="2843784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01968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6 лифтов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очередь растёт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3328416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6254496" y="3538728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01968" y="33284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12 лифтов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33284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3"/>
                </a:solidFill>
              </a:rPr>
              <a:t>180 секунд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4023360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6254496" y="423367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01968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13 лифтов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4023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13 секунд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5102352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" y="5404104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298448" y="5175504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Достроить десять шахт в готовом здании невозможно. Значит, уменьшать нужно не очередь, а две потери: время, которое человек ждёт зря, и время, которое лифт тратит зря.</a:t>
            </a:r>
            <a:endParaRPr lang="en-US" sz="1350" dirty="0"/>
          </a:p>
        </p:txBody>
      </p:sp>
      <p:sp>
        <p:nvSpPr>
          <p:cNvPr id="27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Наша команда</a:t>
            </a:r>
            <a:endParaRPr lang="en-US" sz="3200" dirty="0"/>
          </a:p>
        </p:txBody>
      </p:sp>
      <p:pic>
        <p:nvPicPr>
          <p:cNvPr id="4" name="photo-1" descr="/Users/a1111/Desktop/TIU GO/presentation/assets/team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55648"/>
            <a:ext cx="1755648" cy="1755648"/>
          </a:xfrm>
          <a:prstGeom prst="ellipse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Помощник инженера</a:t>
            </a:r>
            <a:endParaRPr lang="en-US" sz="1400" dirty="0"/>
          </a:p>
        </p:txBody>
      </p:sp>
      <p:pic>
        <p:nvPicPr>
          <p:cNvPr id="6" name="photo-2" descr="/Users/a1111/Desktop/TIU GO/presentation/assets/team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508" y="1755648"/>
            <a:ext cx="1755648" cy="1755648"/>
          </a:xfrm>
          <a:prstGeom prst="ellipse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784348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Тимлид</a:t>
            </a:r>
            <a:endParaRPr lang="en-US" sz="1400" dirty="0"/>
          </a:p>
        </p:txBody>
      </p:sp>
      <p:pic>
        <p:nvPicPr>
          <p:cNvPr id="8" name="photo-3" descr="/Users/a1111/Desktop/TIU GO/presentation/assets/team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36" y="1755648"/>
            <a:ext cx="1755648" cy="1755648"/>
          </a:xfrm>
          <a:prstGeom prst="ellipse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065776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Главный инженер</a:t>
            </a:r>
            <a:endParaRPr lang="en-US" sz="1400" dirty="0"/>
          </a:p>
        </p:txBody>
      </p:sp>
      <p:pic>
        <p:nvPicPr>
          <p:cNvPr id="10" name="photo-4" descr="/Users/a1111/Desktop/TIU GO/presentation/assets/team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364" y="1755648"/>
            <a:ext cx="1755648" cy="1755648"/>
          </a:xfrm>
          <a:prstGeom prst="ellipse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7347204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Ведущий разработчик</a:t>
            </a:r>
            <a:endParaRPr lang="en-US" sz="1400" dirty="0"/>
          </a:p>
        </p:txBody>
      </p:sp>
      <p:pic>
        <p:nvPicPr>
          <p:cNvPr id="12" name="photo-5" descr="/Users/a1111/Desktop/TIU GO/presentation/assets/team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5792" y="1755648"/>
            <a:ext cx="1755648" cy="1755648"/>
          </a:xfrm>
          <a:prstGeom prst="ellipse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628632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Помощник разработчика</a:t>
            </a:r>
            <a:endParaRPr lang="en-US" sz="1400" dirty="0"/>
          </a:p>
        </p:txBody>
      </p:sp>
      <p:sp>
        <p:nvSpPr>
          <p:cNvPr id="14" name="Text 6"/>
          <p:cNvSpPr txBox="1"/>
          <p:nvPr/>
        </p:nvSpPr>
        <p:spPr>
          <a:xfrm>
            <a:off x="640080" y="45354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Группа ИСАУБ-26-1 · Тюменский индустриальный университет</a:t>
            </a:r>
            <a:endParaRPr lang="en-US" sz="1300" dirty="0"/>
          </a:p>
        </p:txBody>
      </p:sp>
      <p:sp>
        <p:nvSpPr>
          <p:cNvPr id="15" name="Shape 7"/>
          <p:cNvSpPr/>
          <p:nvPr/>
        </p:nvSpPr>
        <p:spPr>
          <a:xfrm>
            <a:off x="640080" y="523036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6" name="Shape 8"/>
          <p:cNvSpPr/>
          <p:nvPr/>
        </p:nvSpPr>
        <p:spPr>
          <a:xfrm>
            <a:off x="914400" y="553212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9"/>
          <p:cNvSpPr txBox="1"/>
          <p:nvPr/>
        </p:nvSpPr>
        <p:spPr>
          <a:xfrm>
            <a:off x="1298448" y="530352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Инженерная часть отвечает за камеру и логику диспетчеризации, разработка — за приложение и расчётные модели.</a:t>
            </a:r>
            <a:endParaRPr lang="en-US" sz="1350" dirty="0"/>
          </a:p>
        </p:txBody>
      </p:sp>
      <p:sp>
        <p:nvSpPr>
          <p:cNvPr id="18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Цели и задачи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824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50008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Сократить время, которое человек теряет у лифта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Поднять пропускную способность в часы пик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Дать корпусу объективные данные о работе лифтов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1481328"/>
            <a:ext cx="521208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67728" y="16824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350008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Собрать параметры корпуса и построить математические модели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Разработать мини-приложение для Telegram и MAX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Описать техническую часть: камера в кабине и логика остановок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Проверить эффект на симуляции учебного дня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Подготовить внедрение на одном лифте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562356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98448" y="5394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Задачи выстроены так, чтобы каждая проверялась числом: модель считает эффект до внедрения, а не после.</a:t>
            </a:r>
            <a:endParaRPr lang="en-US" sz="1350" dirty="0"/>
          </a:p>
        </p:txBody>
      </p:sp>
      <p:sp>
        <p:nvSpPr>
          <p:cNvPr id="15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Как устроено решение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566160"/>
          </a:xfrm>
          <a:prstGeom prst="roundRect">
            <a:avLst>
              <a:gd name="adj" fmla="val 2564"/>
            </a:avLst>
          </a:prstGeom>
          <a:solidFill>
            <a:schemeClr val="accent6"/>
          </a:solidFill>
          <a:ln/>
        </p:spPr>
      </p:sp>
      <p:sp>
        <p:nvSpPr>
          <p:cNvPr id="5" name="Shape 2"/>
          <p:cNvSpPr/>
          <p:nvPr/>
        </p:nvSpPr>
        <p:spPr>
          <a:xfrm>
            <a:off x="987552" y="186537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389888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38988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что видит человек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42416" y="2670048"/>
            <a:ext cx="4407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Загруженность всех шести лифтов в реальном времени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Очередь на первом этаже — видно заранее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Совет: ждать лифт или идти пешком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Мини-апп в Telegram и MAX, устанавливать нечего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481328"/>
            <a:ext cx="5212080" cy="3566160"/>
          </a:xfrm>
          <a:prstGeom prst="roundRect">
            <a:avLst>
              <a:gd name="adj" fmla="val 2564"/>
            </a:avLst>
          </a:prstGeom>
          <a:solidFill>
            <a:schemeClr val="accent6"/>
          </a:solidFill>
          <a:ln/>
        </p:spPr>
      </p:sp>
      <p:sp>
        <p:nvSpPr>
          <p:cNvPr id="10" name="Shape 7"/>
          <p:cNvSpPr/>
          <p:nvPr/>
        </p:nvSpPr>
        <p:spPr>
          <a:xfrm>
            <a:off x="6656832" y="186537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59168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часть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05916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что делает система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711696" y="2670048"/>
            <a:ext cx="4407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Камера в кабине считает пассажиров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Система решает: остановиться на вызове или проехать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Полная кабина не тормозит впустую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Ставится на существующие лифты, без замены оборудования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23036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accent6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553212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98448" y="530352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Первая часть убирает бесполезное ожидание человека, вторая — бесполезную остановку лифта. Вместе они и дают выигрыш.</a:t>
            </a:r>
            <a:endParaRPr lang="en-US" sz="1350" dirty="0"/>
          </a:p>
        </p:txBody>
      </p:sp>
      <p:sp>
        <p:nvSpPr>
          <p:cNvPr id="17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 TIU GO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2834640" cy="48920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pic>
        <p:nvPicPr>
          <p:cNvPr id="5" name="Image 0" descr="/Users/a1111/Desktop/TIU GO/presentation/assets/phone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417320"/>
            <a:ext cx="2203704" cy="4617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23360" y="16093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389120" y="14813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Все шесть лифтов на одном экране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389120" y="18105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этаж, загрузка кабины, статус работы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023360" y="2450592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89120" y="23225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Очередь на первом этаже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265176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видно до того, как спустился к лифтам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023360" y="329184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389120" y="316382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Совет «лифт или лестница»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349300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с расчётом времени для вашего этажа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023360" y="413308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389120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Избранные лифты и уведомления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389120" y="433425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приложение напишет, когда кабина освободится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023360" y="497433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389120" y="48463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Три языка, тёмная тема, офлайн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51755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последние данные сохраняются в кэше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4023360" y="5760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i="1" dirty="0">
                <a:solidFill>
                  <a:schemeClr val="accent5"/>
                </a:solidFill>
              </a:rPr>
              <a:t>Работает внутри Telegram и MAX: ставить приложение не нужно, достаточно открыть бот.</a:t>
            </a:r>
            <a:endParaRPr lang="en-US" sz="1250" dirty="0"/>
          </a:p>
        </p:txBody>
      </p:sp>
      <p:sp>
        <p:nvSpPr>
          <p:cNvPr id="22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Две математические модели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семь расчётов плюс отчёт и Excel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5603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Обзор камеры и её слепые зоны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Ошибки детекции: перекрытия и мерцание рамки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Логика «остановиться или проехать»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Физика рейса и время цикла дверей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Симуляция учебного дня, 500 прогонов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Подбор оптимального запаса мест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481328"/>
            <a:ext cx="52120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6772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Социальная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967728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шесть расчётов плюс отчёт и Excel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5603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Очередь к лифтам как система массового обслуживания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Симуляция потока людей по расписанию пар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Функция полезности: лифт или лестница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Чувствительность результата к параметрам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Сколько кабин нужно для заданного ожидания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Отчёт Word и книга Excel с живыми формулами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029200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533095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98448" y="510235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Обе модели и само приложение читают один файл параметров корпуса, а отдельная проверка следит, чтобы они не разошлись: иначе на защите две модели считали бы разные здания.</a:t>
            </a:r>
            <a:endParaRPr lang="en-US" sz="1350" dirty="0"/>
          </a:p>
        </p:txBody>
      </p:sp>
      <p:sp>
        <p:nvSpPr>
          <p:cNvPr id="17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даёт техническая часть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81328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59536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Без системы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96696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С системой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583680" y="1847088"/>
            <a:ext cx="49377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858000" y="19751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Среднее ожидание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8580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chemeClr val="accent2"/>
                </a:solidFill>
              </a:rPr>
              <a:t>−19,8 %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184708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795 с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966960" y="184708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637 с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583680" y="2798064"/>
            <a:ext cx="49377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58000" y="29260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Самая длинная очередь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3236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chemeClr val="accent2"/>
                </a:solidFill>
              </a:rPr>
              <a:t>−17 %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2798064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530 чел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2798064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439 чел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83680" y="3749040"/>
            <a:ext cx="49377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38770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Бесполезных остановок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chemeClr val="accent2"/>
                </a:solidFill>
              </a:rPr>
              <a:t>−98 %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37490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588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966960" y="37490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13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40080" y="504748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3" name="Shape 19"/>
          <p:cNvSpPr/>
          <p:nvPr/>
        </p:nvSpPr>
        <p:spPr>
          <a:xfrm>
            <a:off x="914400" y="5349240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298448" y="512064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500 прогонов учебного дня: в обоих режимах одни и те же пассажиры и одно зерно случайности, разница только в правиле остановки.</a:t>
            </a:r>
            <a:endParaRPr lang="en-US" sz="1350" dirty="0"/>
          </a:p>
        </p:txBody>
      </p:sp>
      <p:sp>
        <p:nvSpPr>
          <p:cNvPr id="25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сильнее всего влияет на результат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81328"/>
          <a:ext cx="6675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7680960" y="1664208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973568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kern="0" spc="100" dirty="0">
                <a:solidFill>
                  <a:schemeClr val="accent5"/>
                </a:solidFill>
              </a:rPr>
              <a:t>Вывод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973568" y="2249424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Поведение людей влияет на результат в пять раз сильнее, чем число кабин.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973568" y="3310128"/>
            <a:ext cx="3255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Поэтому приложение — не дополнение к оборудованию, а основная часть решения: оно меняет именно тот параметр, который двигает результат.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562356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298448" y="5394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Вывод проверен перебором: каждый параметр менялся в разумных границах, остальные оставались на месте.</a:t>
            </a:r>
            <a:endParaRPr lang="en-US" sz="1350" dirty="0"/>
          </a:p>
        </p:txBody>
      </p:sp>
      <p:sp>
        <p:nvSpPr>
          <p:cNvPr id="12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Анализ рынка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Лифтовый рынок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22576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Основной путь модернизации — замена лебёдки и станции управления: дорого и останавливает лифт на недели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 учебных корпусах оборудование служит десятилетиями, а бюджет на замену появляется редко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Диспетчеризация ставится ради эксплуатации, а не ради пассажира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481328"/>
            <a:ext cx="52120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67728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ПО для лифтов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322576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Существующие системы (ОДС, диспетчерские комплексы, «умное здание») рассчитаны на службу эксплуатации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Пассажир в них не является пользователем: он не видит ни очереди, ни загрузки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Мини-приложения в мессенджерах сняли главный барьер — ставить ничего не нужно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36592"/>
            <a:ext cx="10881360" cy="100584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50976" y="4901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kern="0" spc="100" dirty="0">
                <a:solidFill>
                  <a:schemeClr val="accent5"/>
                </a:solidFill>
              </a:rPr>
              <a:t>Наша ниша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" y="51755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Интерфейс для пассажира конкретного корпуса плюс лёгкая техническая часть, которая ставится на существующие лифты.</a:t>
            </a:r>
            <a:endParaRPr lang="en-US" sz="1400" dirty="0"/>
          </a:p>
        </p:txBody>
      </p:sp>
      <p:sp>
        <p:nvSpPr>
          <p:cNvPr id="15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сделано и что дальше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04288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Мини-приложение в Telegram и MAX с расчётом ожидания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Два бота и сервер с API, админка для статусов лифтов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Две математические модели с отчётами Word и Excel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Единый файл параметров корпуса и проверка согласованности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Уведомления, избранное, три языка, офлайн-режим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481328"/>
            <a:ext cx="521208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6772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077456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Согласовать доступ к данным лифтов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77456" y="2807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Поставить камеру в одну кабину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077456" y="3282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Сверить расчёт с реальными записями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758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Включить логику на одном лифте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077456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Распространить на другие корпуса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513892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914400" y="544068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298448" y="521208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Следующий шаг не требует закупки: одна камера в одной кабине подтверждает или опровергает расчёт.</a:t>
            </a:r>
            <a:endParaRPr lang="en-US" sz="1350" dirty="0"/>
          </a:p>
        </p:txBody>
      </p:sp>
      <p:sp>
        <p:nvSpPr>
          <p:cNvPr id="2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1887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kern="0" spc="200" dirty="0">
                <a:solidFill>
                  <a:schemeClr val="accent1"/>
                </a:solidFill>
              </a:rPr>
              <a:t>Проект команды ИСАУБ-26-1 · TIU GO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64592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Лифтов больше не станет.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Потерянного времени — станет меньше.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3931920"/>
            <a:ext cx="3444240" cy="1572768"/>
          </a:xfrm>
          <a:prstGeom prst="roundRect">
            <a:avLst>
              <a:gd name="adj" fmla="val 5814"/>
            </a:avLst>
          </a:prstGeom>
          <a:solidFill>
            <a:schemeClr val="accent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0976" y="4114800"/>
            <a:ext cx="282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+11,9 %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50976" y="4882896"/>
            <a:ext cx="282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пропускной способности в пик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58640" y="3931920"/>
            <a:ext cx="3444240" cy="1572768"/>
          </a:xfrm>
          <a:prstGeom prst="roundRect">
            <a:avLst>
              <a:gd name="adj" fmla="val 5814"/>
            </a:avLst>
          </a:prstGeom>
          <a:solidFill>
            <a:schemeClr val="accent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69536" y="4114800"/>
            <a:ext cx="282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−19,8 %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669536" y="4882896"/>
            <a:ext cx="282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среднего ожидания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77200" y="3931920"/>
            <a:ext cx="3444240" cy="1572768"/>
          </a:xfrm>
          <a:prstGeom prst="roundRect">
            <a:avLst>
              <a:gd name="adj" fmla="val 5814"/>
            </a:avLst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88096" y="4114800"/>
            <a:ext cx="282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 → 13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388096" y="4882896"/>
            <a:ext cx="282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бесполезных остановок за день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Спасибо за внимание. Готовы ответить на вопросы.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U GO">
  <a:themeElements>
    <a:clrScheme name="TIU GO">
      <a:dk1>
        <a:srgbClr val="101722"/>
      </a:dk1>
      <a:lt1>
        <a:srgbClr val="FFFFFF"/>
      </a:lt1>
      <a:dk2>
        <a:srgbClr val="18212E"/>
      </a:dk2>
      <a:lt2>
        <a:srgbClr val="F2F5F9"/>
      </a:lt2>
      <a:accent1>
        <a:srgbClr val="4B8CF7"/>
      </a:accent1>
      <a:accent2>
        <a:srgbClr val="3FB27F"/>
      </a:accent2>
      <a:accent3>
        <a:srgbClr val="E8A33D"/>
      </a:accent3>
      <a:accent4>
        <a:srgbClr val="D9534F"/>
      </a:accent4>
      <a:accent5>
        <a:srgbClr val="6B7A8C"/>
      </a:accent5>
      <a:accent6>
        <a:srgbClr val="2A3647"/>
      </a:accent6>
      <a:hlink>
        <a:srgbClr val="4B8CF7"/>
      </a:hlink>
      <a:folHlink>
        <a:srgbClr val="6B7A8C"/>
      </a:folHlink>
    </a:clrScheme>
    <a:fontScheme name="TIU G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1511</Words>
  <Application>Microsoft Macintosh PowerPoint</Application>
  <PresentationFormat>Широкоэкранный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TIU GO</vt:lpstr>
      <vt:lpstr>TIU GO</vt:lpstr>
      <vt:lpstr>Что происходит в корпусе 7</vt:lpstr>
      <vt:lpstr>Почему новые лифты не помогут</vt:lpstr>
      <vt:lpstr>Наша команда</vt:lpstr>
      <vt:lpstr>Цели и задачи</vt:lpstr>
      <vt:lpstr>Как устроено решение</vt:lpstr>
      <vt:lpstr>Приложение TIU GO</vt:lpstr>
      <vt:lpstr>Две математические модели</vt:lpstr>
      <vt:lpstr>Что даёт техническая часть</vt:lpstr>
      <vt:lpstr>Что сильнее всего влияет на результат</vt:lpstr>
      <vt:lpstr>Анализ рынка</vt:lpstr>
      <vt:lpstr>Что сделано и что дальше</vt:lpstr>
      <vt:lpstr>Лифтов больше не станет. Потерянного времени — станет меньше.</vt:lpstr>
    </vt:vector>
  </TitlesOfParts>
  <Company>Тюменский индустриальный университет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TIU GO — мониторинг лифтов корпуса 7</dc:title>
  <dc:subject>PptxGenJS Presentation</dc:subject>
  <dc:creator>Команда ИСАУБ-26-1</dc:creator>
  <cp:lastModifiedBy>abudabi</cp:lastModifiedBy>
  <cp:revision>2</cp:revision>
  <dcterms:created xsi:type="dcterms:W3CDTF">2026-10-11T14:09:16Z</dcterms:created>
  <dcterms:modified xsi:type="dcterms:W3CDTF">2026-10-11T14:19:59Z</dcterms:modified>
</cp:coreProperties>
</file>