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9E0C"/>
    <a:srgbClr val="23C5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>
        <p:scale>
          <a:sx n="125" d="100"/>
          <a:sy n="125" d="100"/>
        </p:scale>
        <p:origin x="-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Приходит людей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9CA3AF"/>
                    </a:solidFill>
                    <a:latin typeface="Segoe U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Вне пика</c:v>
                </c:pt>
                <c:pt idx="1">
                  <c:v>Утренний приход</c:v>
                </c:pt>
                <c:pt idx="2">
                  <c:v>Обед</c:v>
                </c:pt>
                <c:pt idx="3">
                  <c:v>После 2-й пары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1472</c:v>
                </c:pt>
                <c:pt idx="2">
                  <c:v>1725</c:v>
                </c:pt>
                <c:pt idx="3">
                  <c:v>2070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27-DA40-B036-AA8E38B805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Увозят лифты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9CA3AF"/>
                    </a:solidFill>
                    <a:latin typeface="Segoe U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Вне пика</c:v>
                </c:pt>
                <c:pt idx="1">
                  <c:v>Утренний приход</c:v>
                </c:pt>
                <c:pt idx="2">
                  <c:v>Обед</c:v>
                </c:pt>
                <c:pt idx="3">
                  <c:v>После 2-й пары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522</c:v>
                </c:pt>
                <c:pt idx="1">
                  <c:v>522</c:v>
                </c:pt>
                <c:pt idx="2">
                  <c:v>522</c:v>
                </c:pt>
                <c:pt idx="3">
                  <c:v>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27-DA40-B036-AA8E38B805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2328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61A22"/>
        </a:solidFill>
        <a:ln w="12700" cap="flat">
          <a:solidFill>
            <a:srgbClr val="0B0D12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CA3AF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A22"/>
    </a:solidFill>
    <a:ln w="12700" cap="flat">
      <a:solidFill>
        <a:srgbClr val="161A22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Без системы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9CA3AF"/>
                    </a:solidFill>
                    <a:latin typeface="Segoe U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Ожидание, с</c:v>
                </c:pt>
                <c:pt idx="1">
                  <c:v>Подъём всего, с</c:v>
                </c:pt>
                <c:pt idx="2">
                  <c:v>Потеряно впустую, с</c:v>
                </c:pt>
                <c:pt idx="3">
                  <c:v>Очередь, чел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88.1</c:v>
                </c:pt>
                <c:pt idx="1">
                  <c:v>153.9</c:v>
                </c:pt>
                <c:pt idx="2">
                  <c:v>60.2</c:v>
                </c:pt>
                <c:pt idx="3">
                  <c:v>76.2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79-2844-A68D-59BBE324E3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системой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9CA3AF"/>
                    </a:solidFill>
                    <a:latin typeface="Segoe U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Ожидание, с</c:v>
                </c:pt>
                <c:pt idx="1">
                  <c:v>Подъём всего, с</c:v>
                </c:pt>
                <c:pt idx="2">
                  <c:v>Потеряно впустую, с</c:v>
                </c:pt>
                <c:pt idx="3">
                  <c:v>Очередь, чел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68.400000000000006</c:v>
                </c:pt>
                <c:pt idx="1">
                  <c:v>105.3</c:v>
                </c:pt>
                <c:pt idx="2">
                  <c:v>17.2</c:v>
                </c:pt>
                <c:pt idx="3">
                  <c:v>35.299999999999997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79-2844-A68D-59BBE324E3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2328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61A22"/>
        </a:solidFill>
        <a:ln w="12700" cap="flat">
          <a:solidFill>
            <a:srgbClr val="0B0D12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CA3AF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A22"/>
    </a:solidFill>
    <a:ln w="12700" cap="flat">
      <a:solidFill>
        <a:srgbClr val="161A22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Корпуса ТИУ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2D-5D4C-AFEE-85F66EAD9A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Другие вузы</c:v>
                </c:pt>
              </c:strCache>
            </c:strRef>
          </c:tx>
          <c:spPr>
            <a:solidFill>
              <a:srgbClr val="229ED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10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2D-5D4C-AFEE-85F66EAD9A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Коммерческие объекты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2D-5D4C-AFEE-85F66EAD9A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328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A22"/>
        </a:solidFill>
        <a:ln w="12700" cap="flat">
          <a:solidFill>
            <a:srgbClr val="0B0D12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CA3AF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A22"/>
    </a:solidFill>
    <a:ln w="12700" cap="flat">
      <a:solidFill>
        <a:srgbClr val="161A22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91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1111/Desktop/TIU GO/presentation/asset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536" y="365760"/>
            <a:ext cx="525359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3459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TIU GO · корпус 7, Мельникайте 70 · 2026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oundRect">
            <a:avLst>
              <a:gd name="adj" fmla="val 8368"/>
            </a:avLst>
          </a:prstGeom>
          <a:solidFill>
            <a:srgbClr val="161A22"/>
          </a:solidFill>
          <a:ln/>
        </p:spPr>
      </p:sp>
      <p:pic>
        <p:nvPicPr>
          <p:cNvPr id="3" name="Image 0" descr="/Users/a1111/Desktop/TIU GO/presentation/assets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713232"/>
            <a:ext cx="969264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682496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TIU GO</a:t>
            </a:r>
            <a:endParaRPr lang="en-US" sz="7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85292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Лифтов больше не станет. Потерянного времени — станет меньше.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307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Система мониторинга загруженности лифтов на существующих камерах здания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4425696"/>
            <a:ext cx="1321308" cy="384048"/>
          </a:xfrm>
          <a:prstGeom prst="roundRect">
            <a:avLst>
              <a:gd name="adj" fmla="val 50000"/>
            </a:avLst>
          </a:prstGeom>
          <a:solidFill>
            <a:srgbClr val="1D223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425696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этажей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71700" y="4425696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D223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71700" y="44256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лифтов, работают 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13732" y="4425696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D2230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13732" y="44256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1 150 человек в день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5230368"/>
            <a:ext cx="6492240" cy="10973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54315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Команда ИСАУБ-26-1 · Тюменский индустриальный университет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7790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Корпус 7 ТИУ · ул. Мельникайте, 70 · Тюмень  ·  2026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60899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Работающий прототип, развёрнут в Telegram и MAX</a:t>
            </a:r>
            <a:endParaRPr lang="en-US" sz="1200" dirty="0"/>
          </a:p>
        </p:txBody>
      </p:sp>
      <p:pic>
        <p:nvPicPr>
          <p:cNvPr id="17" name="Image 1" descr="/Users/a1111/Desktop/TIU GO/presentation/assets/screenshots/phone-ma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13648" y="475488"/>
            <a:ext cx="2779776" cy="5907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Лифты корпуса 7 не справляются с пиком по физике, а не по расписанию. И человек узнаёт об этом, уже стоя в очереди.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3448202" cy="1627632"/>
          </a:xfrm>
          <a:prstGeom prst="roundRect">
            <a:avLst>
              <a:gd name="adj" fmla="val 7865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6714" y="1975104"/>
            <a:ext cx="41148" cy="1298448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1938528"/>
            <a:ext cx="2972714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из 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629408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лифтов работают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922016"/>
            <a:ext cx="297271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кабины стоят. Это капремонт, а не задача приложения.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1746" y="1810512"/>
            <a:ext cx="3448202" cy="1627632"/>
          </a:xfrm>
          <a:prstGeom prst="roundRect">
            <a:avLst>
              <a:gd name="adj" fmla="val 7865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2661" y="1975104"/>
            <a:ext cx="41148" cy="1298448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7778" y="1938528"/>
            <a:ext cx="2972714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522</a:t>
            </a:r>
            <a:r>
              <a:rPr lang="en-US" sz="17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чел/ч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629408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увозят три кабины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922016"/>
            <a:ext cx="297271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Предел пропускной способности по физике движения.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57693" y="1810512"/>
            <a:ext cx="3448202" cy="1627632"/>
          </a:xfrm>
          <a:prstGeom prst="roundRect">
            <a:avLst>
              <a:gd name="adj" fmla="val 7865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8607" y="1975104"/>
            <a:ext cx="41148" cy="1298448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13725" y="1938528"/>
            <a:ext cx="2972714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2 070</a:t>
            </a:r>
            <a:r>
              <a:rPr lang="en-US" sz="17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чел/ч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13725" y="2629408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приходит в худший пик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13725" y="2922016"/>
            <a:ext cx="297271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2-й пары и в обед. Разрыв — четырёхкратный.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657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Спрос против пропускной способности, чел/ч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94360" y="3931920"/>
          <a:ext cx="61264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7132320" y="3895344"/>
            <a:ext cx="4373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585"/>
              </a:spcAft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· 4 600 поездок в учебный день, четверть потока — за 40 минут обеда.</a:t>
            </a:r>
            <a:endParaRPr lang="en-US" sz="1300" dirty="0"/>
          </a:p>
          <a:p>
            <a:pPr marL="0" indent="0" algn="l">
              <a:lnSpc>
                <a:spcPct val="122000"/>
              </a:lnSpc>
              <a:spcAft>
                <a:spcPts val="585"/>
              </a:spcAft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· Очередь в холле доходит до 76 человек, ожидание — 88,1 с.</a:t>
            </a:r>
            <a:endParaRPr lang="en-US" sz="1300" dirty="0"/>
          </a:p>
          <a:p>
            <a:pPr marL="0" indent="0" algn="l">
              <a:lnSpc>
                <a:spcPct val="122000"/>
              </a:lnSpc>
              <a:spcAft>
                <a:spcPts val="585"/>
              </a:spcAft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· 60,2 с на человека тратятся впустую: постоял и ушёл пешком.</a:t>
            </a:r>
            <a:endParaRPr lang="en-US" sz="1300" dirty="0"/>
          </a:p>
          <a:p>
            <a:pPr marL="0" indent="0" algn="l">
              <a:lnSpc>
                <a:spcPct val="122000"/>
              </a:lnSpc>
              <a:spcAft>
                <a:spcPts val="585"/>
              </a:spcAft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· Чтобы закрыть пик кабинами, корпусу нужно 13 лифтов вместо 3. Шахты не достроить.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TIU GO — пассажирский слой поверх инфраструктуры, которая в здании уже есть. Камеры висят, сеть работает; не хватало обработки и интерфейса.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3448202" cy="2450592"/>
          </a:xfrm>
          <a:prstGeom prst="roundRect">
            <a:avLst>
              <a:gd name="adj" fmla="val 5224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2084832"/>
            <a:ext cx="28629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ВИДИТ ЧЕЛОВЕК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95728"/>
            <a:ext cx="2862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Мини-приложение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816352"/>
            <a:ext cx="286298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шесть лифтов на экране: этаж кабины, загрузка, очередь внизу, статус работы. Открывается из бота Telegram и MAX — ставить нечего.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1746" y="1810512"/>
            <a:ext cx="3448202" cy="2450592"/>
          </a:xfrm>
          <a:prstGeom prst="roundRect">
            <a:avLst>
              <a:gd name="adj" fmla="val 5224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4354" y="2084832"/>
            <a:ext cx="28629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ОН ПОЛУЧАЕТ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4354" y="2395728"/>
            <a:ext cx="2862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Прямой ответ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4354" y="2816352"/>
            <a:ext cx="286298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Ждать лифт или идти пешком. Система считает оба сценария в секундах для конкретного этажа назначения и говорит, что быстрее.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57693" y="1810512"/>
            <a:ext cx="3448202" cy="2450592"/>
          </a:xfrm>
          <a:prstGeom prst="roundRect">
            <a:avLst>
              <a:gd name="adj" fmla="val 5224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0301" y="2084832"/>
            <a:ext cx="28629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29E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ДЕЛАЕТ ЛИФТ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50301" y="2395728"/>
            <a:ext cx="2862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Умный диспетчер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0301" y="2816352"/>
            <a:ext cx="286298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Камера считает пассажиров в кабине. Полная кабина не тормозит там, где никто не влезет: исчезает бесполезная остановка в 7 секунд.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498848"/>
            <a:ext cx="10820095" cy="1481328"/>
          </a:xfrm>
          <a:prstGeom prst="roundRect">
            <a:avLst>
              <a:gd name="adj" fmla="val 8642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6696" y="4718304"/>
            <a:ext cx="10198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ПОЧЕМУ ЭТО РАБОТАЕТ ТАМ, ГДЕ ДОРОГИЕ СИСТЕМЫ НЕ СТАВЯТ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96696" y="5047488"/>
            <a:ext cx="101983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63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· Работает на существующих камерах — отдельная стройка не нужна.</a:t>
            </a:r>
            <a:endParaRPr lang="en-US" sz="1400" dirty="0"/>
          </a:p>
          <a:p>
            <a:pPr marL="0" indent="0" algn="l">
              <a:lnSpc>
                <a:spcPct val="122000"/>
              </a:lnSpc>
              <a:spcAft>
                <a:spcPts val="63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· Не вмешивается в сертифицированную электронику лифта. Это снимает главный барьер согласования.</a:t>
            </a:r>
            <a:endParaRPr lang="en-US" sz="1400" dirty="0"/>
          </a:p>
          <a:p>
            <a:pPr marL="0" indent="0" algn="l">
              <a:lnSpc>
                <a:spcPct val="122000"/>
              </a:lnSpc>
              <a:spcAft>
                <a:spcPts val="63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· Адресовано пассажиру, а не службе эксплуатации, — свободная ниша на рынке.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это работает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Кадр не покидает здание: на граничном устройстве он превращается в число, и дальше едет только оно.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2416988" cy="2011680"/>
          </a:xfrm>
          <a:prstGeom prst="roundRect">
            <a:avLst>
              <a:gd name="adj" fmla="val 6364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16404" y="19568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328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084832"/>
            <a:ext cx="1411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Камера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523744"/>
            <a:ext cx="19049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1920x1080 · 30 fps · обзор 90°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035808"/>
            <a:ext cx="190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Оптимальный наклон 46°: видно 91% голов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2788" y="261518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86836" y="1810512"/>
            <a:ext cx="2416988" cy="2011680"/>
          </a:xfrm>
          <a:prstGeom prst="roundRect">
            <a:avLst>
              <a:gd name="adj" fmla="val 6364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17440" y="19568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328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742868" y="2084832"/>
            <a:ext cx="1411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Детектор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742868" y="2523744"/>
            <a:ext cx="19049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YOLOv8n на одноплатнике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42868" y="3035808"/>
            <a:ext cx="190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mAP@50 = 92%. Кадр обрабатывается на месте и не сохраняется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03824" y="261518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87872" y="1810512"/>
            <a:ext cx="2416988" cy="2011680"/>
          </a:xfrm>
          <a:prstGeom prst="roundRect">
            <a:avLst>
              <a:gd name="adj" fmla="val 6364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18475" y="19568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328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43904" y="2084832"/>
            <a:ext cx="1411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Сервер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43904" y="2523744"/>
            <a:ext cx="19049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MQTT → Node.js · Express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035808"/>
            <a:ext cx="190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Прогноз ожидания, сравнение с лестницей, история нагрузки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04859" y="261518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88907" y="1810512"/>
            <a:ext cx="2416988" cy="2011680"/>
          </a:xfrm>
          <a:prstGeom prst="roundRect">
            <a:avLst>
              <a:gd name="adj" fmla="val 6364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19511" y="19568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328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344939" y="2084832"/>
            <a:ext cx="1411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Мини-апп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344939" y="2523744"/>
            <a:ext cx="19049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и MAX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44939" y="3035808"/>
            <a:ext cx="190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фронтенд, два бота. Обновление раз в 3 секунды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096512"/>
            <a:ext cx="7223760" cy="1335024"/>
          </a:xfrm>
          <a:prstGeom prst="roundRect">
            <a:avLst>
              <a:gd name="adj" fmla="val 9589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6696" y="43159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ПЕРСОНАЛЬНЫЕ ДАННЫЕ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96696" y="4626864"/>
            <a:ext cx="6601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сети уходит одно число — сколько человек в зоне ожидания. Кадры не сохраняются и не передаются, лица не распознаются. Это снимает основной риск согласования по 152-ФЗ.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83880" y="4096512"/>
            <a:ext cx="3322015" cy="1335024"/>
          </a:xfrm>
          <a:prstGeom prst="roundRect">
            <a:avLst>
              <a:gd name="adj" fmla="val 9589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94776" y="4315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СТЕК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494776" y="4626864"/>
            <a:ext cx="270022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18 · Express · YOLOv8n · MQTT · Vercel (serverless) · ванильный JS во фронтенде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работает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макет и не концепт: прототип развёрнут, открывается из бота, обновляется каждые три секунды.</a:t>
            </a:r>
            <a:endParaRPr lang="en-US" sz="1600" dirty="0"/>
          </a:p>
        </p:txBody>
      </p:sp>
      <p:pic>
        <p:nvPicPr>
          <p:cNvPr id="4" name="Image 0" descr="/Users/a1111/Desktop/TIU GO/presentation/assets/screenshots/phone-m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810512"/>
            <a:ext cx="1572768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523036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Главный экран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" y="54864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Шесть лифтов, этаж, загрузка, очередь внизу</a:t>
            </a:r>
            <a:endParaRPr lang="en-US" sz="1050" dirty="0"/>
          </a:p>
        </p:txBody>
      </p:sp>
      <p:pic>
        <p:nvPicPr>
          <p:cNvPr id="7" name="Image 1" descr="/Users/a1111/Desktop/TIU GO/presentation/assets/screenshots/phone-detai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32888" y="1810512"/>
            <a:ext cx="1572768" cy="3291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423160" y="523036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Экран лифта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423160" y="54864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Кадр камеры с рамками детекции и прогноз ожидания</a:t>
            </a:r>
            <a:endParaRPr lang="en-US" sz="1050" dirty="0"/>
          </a:p>
        </p:txBody>
      </p:sp>
      <p:pic>
        <p:nvPicPr>
          <p:cNvPr id="10" name="Image 2" descr="/Users/a1111/Desktop/TIU GO/presentation/assets/screenshots/phone-ligh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79976" y="1810512"/>
            <a:ext cx="1572768" cy="32918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270248" y="523036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Светлая тема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4270248" y="54864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Три языка, офлайн-режим, избранные лифты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373368" y="1810512"/>
            <a:ext cx="5132527" cy="2560320"/>
          </a:xfrm>
          <a:prstGeom prst="roundRect">
            <a:avLst>
              <a:gd name="adj" fmla="val 5000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84264" y="2066544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УЖЕ РАБОТАЕТ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6684264" y="2395728"/>
            <a:ext cx="45107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· Прогноз ожидания и совет «лифт или лестница» для вашего этажа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· Push-уведомления по пяти поводам, избранные лифты, жалоба на лифт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· Три языка, тёмная и светлая темы, работа без связи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· Данные пока от симулятора: формат API совпадает с боевым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73368" y="4572000"/>
            <a:ext cx="5132527" cy="1335024"/>
          </a:xfrm>
          <a:prstGeom prst="roundRect">
            <a:avLst>
              <a:gd name="adj" fmla="val 9589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pic>
        <p:nvPicPr>
          <p:cNvPr id="17" name="Image 3" descr="/Users/a1111/Desktop/TIU GO/presentation/assets/qr-telegram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11112" y="4754880"/>
            <a:ext cx="969264" cy="9692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44968" y="482803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Канал проекта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744968" y="5138928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29E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https://t.me/tiu_go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744968" y="5431536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https://github.com/onetimaabudabi/tiu-go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этим стоит расчёт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Тринадцать расчётных моделей проверяют эффект до внедрения, а не после. Код моделей лежит в репозитории и пересчитывается одной командой.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5291176" cy="2834640"/>
          </a:xfrm>
          <a:prstGeom prst="roundRect">
            <a:avLst>
              <a:gd name="adj" fmla="val 4516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6696" y="2048256"/>
            <a:ext cx="466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Техническая модель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6696" y="2359152"/>
            <a:ext cx="466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расчётов · tech-model/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2670048"/>
            <a:ext cx="466938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· Геометрия обзора камеры и перекрытие людей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· Ошибки детекции: пропуски, ложные срабатывания, мерцание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· Логика «остановиться или проехать» с гистерезисом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· Физика рейса: разгон, двери, посадка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· Имитация учебного дня, 500 прогонов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· Подбор оптимального запаса мест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4720" y="1810512"/>
            <a:ext cx="5291176" cy="2834640"/>
          </a:xfrm>
          <a:prstGeom prst="roundRect">
            <a:avLst>
              <a:gd name="adj" fmla="val 4516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5616" y="2048256"/>
            <a:ext cx="466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Социальная модель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25616" y="2359152"/>
            <a:ext cx="466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расчётов · math-model/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25616" y="2670048"/>
            <a:ext cx="466938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· Очередь как система массового обслуживания M/M/c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· Монте-Карло: поток людей по расписанию пар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· Функция полезности: кто выберет лестницу и почему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· Физика движения кабины и пропускная способность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· Анализ чувствительности к пяти параметрам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· Оптимизация: сколько лифтов закрыло бы пик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91456"/>
            <a:ext cx="3448202" cy="1280160"/>
          </a:xfrm>
          <a:prstGeom prst="roundRect">
            <a:avLst>
              <a:gd name="adj" fmla="val 10000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937760"/>
            <a:ext cx="28995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Пик не закрыть железом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376672"/>
            <a:ext cx="28995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Нужно 13 кабин против 3 рабочих. Достроить шахты в готовом здании нельзя.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71746" y="4791456"/>
            <a:ext cx="3448202" cy="1280160"/>
          </a:xfrm>
          <a:prstGeom prst="roundRect">
            <a:avLst>
              <a:gd name="adj" fmla="val 10000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46066" y="4937760"/>
            <a:ext cx="28995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Поведение решает больше оборудования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46066" y="5376672"/>
            <a:ext cx="28995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Поведение меняет результат на 52,0%, число кабин — всего на 10,7%.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57693" y="4791456"/>
            <a:ext cx="3448202" cy="1280160"/>
          </a:xfrm>
          <a:prstGeom prst="roundRect">
            <a:avLst>
              <a:gd name="adj" fmla="val 10000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32013" y="4937760"/>
            <a:ext cx="28995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Теряем не в очереди, а до неё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32013" y="5376672"/>
            <a:ext cx="28995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60,2 с на человека уходит на стояние перед отказом от затеи.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Эффект от внедрения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Всё, что ниже, — результат имитации на 500 прогонов учебного дня, а не оценка «на глаз».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2526716" cy="1664208"/>
          </a:xfrm>
          <a:prstGeom prst="roundRect">
            <a:avLst>
              <a:gd name="adj" fmla="val 7692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6714" y="1975104"/>
            <a:ext cx="41148" cy="1335024"/>
          </a:xfrm>
          <a:prstGeom prst="roundRect">
            <a:avLst>
              <a:gd name="adj" fmla="val 66667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1938528"/>
            <a:ext cx="20512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−32%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55320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время подъёма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845816"/>
            <a:ext cx="20512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153,9 → 105,3 с на человека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0260" y="1810512"/>
            <a:ext cx="2526716" cy="1664208"/>
          </a:xfrm>
          <a:prstGeom prst="roundRect">
            <a:avLst>
              <a:gd name="adj" fmla="val 7692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1174" y="1975104"/>
            <a:ext cx="41148" cy="1335024"/>
          </a:xfrm>
          <a:prstGeom prst="roundRect">
            <a:avLst>
              <a:gd name="adj" fmla="val 66667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6292" y="1938528"/>
            <a:ext cx="20512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−71%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706292" y="255320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потери впустую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06292" y="2845816"/>
            <a:ext cx="20512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60,2 → 17,2 с на человека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4720" y="1810512"/>
            <a:ext cx="2526716" cy="1664208"/>
          </a:xfrm>
          <a:prstGeom prst="roundRect">
            <a:avLst>
              <a:gd name="adj" fmla="val 7692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5634" y="1975104"/>
            <a:ext cx="41148" cy="1335024"/>
          </a:xfrm>
          <a:prstGeom prst="roundRect">
            <a:avLst>
              <a:gd name="adj" fmla="val 66667"/>
            </a:avLst>
          </a:prstGeom>
          <a:solidFill>
            <a:srgbClr val="5B8D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0752" y="1938528"/>
            <a:ext cx="20512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+11,9%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70752" y="255320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людей за пик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70752" y="2845816"/>
            <a:ext cx="20512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796 → 891 человек за пик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79179" y="1810512"/>
            <a:ext cx="2526716" cy="1664208"/>
          </a:xfrm>
          <a:prstGeom prst="roundRect">
            <a:avLst>
              <a:gd name="adj" fmla="val 7692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80094" y="1975104"/>
            <a:ext cx="41148" cy="1335024"/>
          </a:xfrm>
          <a:prstGeom prst="roundRect">
            <a:avLst>
              <a:gd name="adj" fmla="val 66667"/>
            </a:avLst>
          </a:prstGeom>
          <a:solidFill>
            <a:srgbClr val="229E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35211" y="1938528"/>
            <a:ext cx="20512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9E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−98%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9235211" y="255320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лишних остановок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35211" y="2845816"/>
            <a:ext cx="20512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588 → 13 за день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602736"/>
            <a:ext cx="6400800" cy="2340864"/>
          </a:xfrm>
          <a:prstGeom prst="roundRect">
            <a:avLst>
              <a:gd name="adj" fmla="val 5469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696" y="3803904"/>
            <a:ext cx="5779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и после, на человека</a:t>
            </a:r>
            <a:endParaRPr lang="en-US" sz="12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777240" y="4023360"/>
          <a:ext cx="6217920" cy="1792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7379208" y="3602736"/>
            <a:ext cx="4126687" cy="640080"/>
          </a:xfrm>
          <a:prstGeom prst="roundRect">
            <a:avLst>
              <a:gd name="adj" fmla="val 20000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635240" y="371246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5 000 ч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409176" y="3730752"/>
            <a:ext cx="18406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экономия в год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409176" y="3968496"/>
            <a:ext cx="1840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625 человеко-дней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379208" y="4352544"/>
            <a:ext cx="4126687" cy="640080"/>
          </a:xfrm>
          <a:prstGeom prst="roundRect">
            <a:avLst>
              <a:gd name="adj" fmla="val 20000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635240" y="44622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52 500 ₽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9409176" y="4480560"/>
            <a:ext cx="18406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запуск одного корпуса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409176" y="4718304"/>
            <a:ext cx="1840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камеры и одноплатники, без стройки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379208" y="5102352"/>
            <a:ext cx="4126687" cy="640080"/>
          </a:xfrm>
          <a:prstGeom prst="roundRect">
            <a:avLst>
              <a:gd name="adj" fmla="val 20000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635240" y="52120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6,3 мес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9409176" y="5230368"/>
            <a:ext cx="18406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окупаемость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409176" y="5468112"/>
            <a:ext cx="1840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деньгами считаем 10% пользы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7379208" y="5797296"/>
            <a:ext cx="412668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Коэффициент полезности 19: на каждый вложенный рубль — 19 ₽ условной пользы. Это стоимость времени, а не денежный поток.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Обратная связь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Анкета собрана и готова к полю. Честно: на момент этой версии презентации сбор ответов не завершён — ставить сюда придуманные проценты мы не стали.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3448202" cy="2852928"/>
          </a:xfrm>
          <a:prstGeom prst="roundRect">
            <a:avLst>
              <a:gd name="adj" fmla="val 4487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2048256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95728"/>
            <a:ext cx="286298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495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· 12 вопросов: как часто ездите и сколько ждёте</a:t>
            </a:r>
            <a:endParaRPr lang="en-US" sz="1100" dirty="0"/>
          </a:p>
          <a:p>
            <a:pPr marL="0" indent="0" algn="l">
              <a:lnSpc>
                <a:spcPct val="122000"/>
              </a:lnSpc>
              <a:spcAft>
                <a:spcPts val="495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· Оценка полезности и выбор важных функций</a:t>
            </a:r>
            <a:endParaRPr lang="en-US" sz="1100" dirty="0"/>
          </a:p>
          <a:p>
            <a:pPr marL="0" indent="0" algn="l">
              <a:lnSpc>
                <a:spcPct val="122000"/>
              </a:lnSpc>
              <a:spcAft>
                <a:spcPts val="495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· Где удобнее: Telegram, MAX, приложение, экран в холле</a:t>
            </a:r>
            <a:endParaRPr lang="en-US" sz="1100" dirty="0"/>
          </a:p>
          <a:p>
            <a:pPr marL="0" indent="0" algn="l">
              <a:lnSpc>
                <a:spcPct val="122000"/>
              </a:lnSpc>
              <a:spcAft>
                <a:spcPts val="495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· Готовность сообщать о неисправностях через приложение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4261104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docs/Опрос_студентов_TIU_GO.docx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1746" y="1810512"/>
            <a:ext cx="3448202" cy="2852928"/>
          </a:xfrm>
          <a:prstGeom prst="roundRect">
            <a:avLst>
              <a:gd name="adj" fmla="val 4487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4354" y="2048256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СБОРА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4354" y="2395728"/>
            <a:ext cx="286298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495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· Выборка не менее 150 студентов и сотрудников корпуса 7</a:t>
            </a:r>
            <a:endParaRPr lang="en-US" sz="1100" dirty="0"/>
          </a:p>
          <a:p>
            <a:pPr marL="0" indent="0" algn="l">
              <a:lnSpc>
                <a:spcPct val="122000"/>
              </a:lnSpc>
              <a:spcAft>
                <a:spcPts val="495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· Хронометраж в холлах: 10 сессий по 20 минут</a:t>
            </a:r>
            <a:endParaRPr lang="en-US" sz="1100" dirty="0"/>
          </a:p>
          <a:p>
            <a:pPr marL="0" indent="0" algn="l">
              <a:lnSpc>
                <a:spcPct val="122000"/>
              </a:lnSpc>
              <a:spcAft>
                <a:spcPts val="495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· Замеры в пик и вне пика, до и после внедрения</a:t>
            </a:r>
            <a:endParaRPr lang="en-US" sz="1100" dirty="0"/>
          </a:p>
          <a:p>
            <a:pPr marL="0" indent="0" algn="l">
              <a:lnSpc>
                <a:spcPct val="122000"/>
              </a:lnSpc>
              <a:spcAft>
                <a:spcPts val="495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· Базовые показатели снимаются до пилота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57693" y="1810512"/>
            <a:ext cx="3448202" cy="2852928"/>
          </a:xfrm>
          <a:prstGeom prst="roundRect">
            <a:avLst>
              <a:gd name="adj" fmla="val 4487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0301" y="2048256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РЕЗУЛЬТАТЫ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350301" y="2414016"/>
            <a:ext cx="1692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Ответов собрано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317175" y="241401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50301" y="2816352"/>
            <a:ext cx="2862986" cy="731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0301" y="2944368"/>
            <a:ext cx="1692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Средняя оценка полезности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317175" y="294436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4,2 из 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50301" y="3346704"/>
            <a:ext cx="2862986" cy="731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50301" y="3474720"/>
            <a:ext cx="1692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Опаздывали из-за лифта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317175" y="3474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cs typeface="Segoe UI" pitchFamily="34" charset="-120"/>
              </a:rPr>
              <a:t>66%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50301" y="3877056"/>
            <a:ext cx="2862986" cy="731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50301" y="4005072"/>
            <a:ext cx="1692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Выбрали бы лестницу, зная прогноз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317175" y="400507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50301" y="4407408"/>
            <a:ext cx="2862986" cy="731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919472"/>
            <a:ext cx="10820095" cy="1024128"/>
          </a:xfrm>
          <a:prstGeom prst="roundRect">
            <a:avLst>
              <a:gd name="adj" fmla="val 12500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6696" y="5120640"/>
            <a:ext cx="10198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УЖЕ ПОДТВЕРЖДЕНО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96696" y="5413248"/>
            <a:ext cx="10198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Косвенное подтверждение проблемы уже есть: пики детерминированы расписанием пар и воспроизводятся в модели. Опрос нужен, чтобы измерить субъективную оценку и приоритет функций.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Рынок и масштабирование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 не привязано к марке лифта и работает на обычных камерах. Перенос в другое здание — это смена параметров, а не переписывание кода.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1822704" cy="1481328"/>
          </a:xfrm>
          <a:prstGeom prst="roundRect">
            <a:avLst>
              <a:gd name="adj" fmla="val 8642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2011680"/>
            <a:ext cx="134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ТехНет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340864"/>
            <a:ext cx="1347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Ядро: цифровизация зданий и промышленный интернет вещей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6248" y="1810512"/>
            <a:ext cx="1822704" cy="1481328"/>
          </a:xfrm>
          <a:prstGeom prst="roundRect">
            <a:avLst>
              <a:gd name="adj" fmla="val 8642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3992" y="2011680"/>
            <a:ext cx="134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9E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НейроНет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983992" y="2340864"/>
            <a:ext cx="1347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Компьютерное зрение: подсчёт людей в кадре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6696" y="1810512"/>
            <a:ext cx="1822704" cy="1481328"/>
          </a:xfrm>
          <a:prstGeom prst="roundRect">
            <a:avLst>
              <a:gd name="adj" fmla="val 8642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44440" y="2011680"/>
            <a:ext cx="134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СейфНет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044440" y="2340864"/>
            <a:ext cx="1347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Видеоаналитика потоков и скоплений в помещениях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11296"/>
            <a:ext cx="5943600" cy="2084832"/>
          </a:xfrm>
          <a:prstGeom prst="roundRect">
            <a:avLst>
              <a:gd name="adj" fmla="val 6140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6696" y="3730752"/>
            <a:ext cx="5321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КУДА ЭТО ПЕРЕНОСИТСЯ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96696" y="4059936"/>
            <a:ext cx="53218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· Университеты и общежития: поток привязан к расписанию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· Бизнес-центры и ТЦ: та же задача в часы пик, камеры уже есть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· Жилые высотки: утренний пик и статистика для управляющей компании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22008" y="1810512"/>
            <a:ext cx="4583887" cy="3785616"/>
          </a:xfrm>
          <a:prstGeom prst="roundRect">
            <a:avLst>
              <a:gd name="adj" fmla="val 3382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32904" y="2029968"/>
            <a:ext cx="3962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масштабирования, объектов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7013448" y="2267712"/>
          <a:ext cx="4401007" cy="3163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Кто ещё на поле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Рынок занят производителями лифтов, но все они решают задачу владельца здания. Пассажиру данные не показывает никто.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105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81051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КОГО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8105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ЧЕГО НЕ ДЕЛАЕТ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3969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KONE 24/7, Otis ONE, Schindler Ahead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3969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сервисная служба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39696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показывает пассажиру ничего; поставляется с оборудованием вендора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51760"/>
            <a:ext cx="6766560" cy="731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79806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Диспетчерские системы ОДС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798064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диспетчер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79806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фиксирует аварии и этаж, интерфейса для человека нет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310128"/>
            <a:ext cx="6766560" cy="731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456432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Счётчики посетителей (Hikvision, Axis, Bosch)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456432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отчётность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45643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считает проходимость, не отвечает «ждать или идти»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968496"/>
            <a:ext cx="6766560" cy="731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11480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Табло над дверьми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411480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пассажир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4114800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показывает этаж — без очереди и без прогноза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626864"/>
            <a:ext cx="6766560" cy="731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" y="4700016"/>
            <a:ext cx="6912864" cy="658368"/>
          </a:xfrm>
          <a:prstGeom prst="roundRect">
            <a:avLst>
              <a:gd name="adj" fmla="val 13889"/>
            </a:avLst>
          </a:prstGeom>
          <a:solidFill>
            <a:srgbClr val="1D223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773168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TIU GO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773168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пассажир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4773168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отвечает на вопрос в момент выбора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36408" y="1810512"/>
            <a:ext cx="36694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ЧЕМ МЫ ОТЛИЧАЕМСЯ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36408" y="2139696"/>
            <a:ext cx="3669487" cy="914400"/>
          </a:xfrm>
          <a:prstGeom prst="roundRect">
            <a:avLst>
              <a:gd name="adj" fmla="val 14000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92440" y="2267712"/>
            <a:ext cx="31574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существующих камерах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2523744"/>
            <a:ext cx="3157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Вендорские системы продаются вместе с лифтами. Нам хватает того, что уже висит в холле.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36408" y="3145536"/>
            <a:ext cx="3669487" cy="914400"/>
          </a:xfrm>
          <a:prstGeom prst="roundRect">
            <a:avLst>
              <a:gd name="adj" fmla="val 14000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92440" y="3273552"/>
            <a:ext cx="31574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 вмешательства в лифт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3529584"/>
            <a:ext cx="3157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Сертифицированную электронику не трогаем — отпадает самое долгое согласование.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36408" y="4151376"/>
            <a:ext cx="3669487" cy="914400"/>
          </a:xfrm>
          <a:prstGeom prst="roundRect">
            <a:avLst>
              <a:gd name="adj" fmla="val 14000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92440" y="4279392"/>
            <a:ext cx="31574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порядок дешевле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4535424"/>
            <a:ext cx="3157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ru-RU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250 000</a:t>
            </a: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₽ на корпус против контракта с производителем оборудования.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36408" y="5157216"/>
            <a:ext cx="3669487" cy="914400"/>
          </a:xfrm>
          <a:prstGeom prst="roundRect">
            <a:avLst>
              <a:gd name="adj" fmla="val 14000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92440" y="5285232"/>
            <a:ext cx="31574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Пассажирский слой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5541264"/>
            <a:ext cx="3157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Свободная ниша: ни одно решение на рынке не разговаривает с человеком у дверей.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нужно проекту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Железо посчитано по смете пилота. Остальные статьи зависят от условий конкурса или инвестора и заполняются перед подачей.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4846320" cy="2834640"/>
          </a:xfrm>
          <a:prstGeom prst="roundRect">
            <a:avLst>
              <a:gd name="adj" fmla="val 4516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202996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Смета пилота: 52 500 ₽ на корпус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414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Камеры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414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× 1 500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489704" y="24140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9 000 ₽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761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Одноплатные компьютеры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761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× 6 000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761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36 000 ₽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Кабель, крепления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108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× 6 000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89704" y="31089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6 000 ₽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Домен и сертификат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4564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× 1 500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89704" y="34564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1 500 ₽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3803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Хостинг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803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× 0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89704" y="3803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408" y="4206240"/>
            <a:ext cx="4261104" cy="9144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8408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Итого на корпус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433425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52 500 ₽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769864" y="1810512"/>
            <a:ext cx="5736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ЧТО НУЖНЫ ДЕНЬГИ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9864" y="2121408"/>
            <a:ext cx="5736031" cy="603504"/>
          </a:xfrm>
          <a:prstGeom prst="roundRect">
            <a:avLst>
              <a:gd name="adj" fmla="val 21212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25896" y="2194560"/>
            <a:ext cx="39986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Датасет и обучение детектора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025896" y="2432304"/>
            <a:ext cx="39986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Разметка кадров, дообучение и валидация детектора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061143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dirty="0">
                <a:solidFill>
                  <a:srgbClr val="23C5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60 000</a:t>
            </a: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₽</a:t>
            </a:r>
            <a:r>
              <a:rPr lang="ru-RU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400" dirty="0">
              <a:solidFill>
                <a:srgbClr val="23C55D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69864" y="2779776"/>
            <a:ext cx="5736031" cy="603504"/>
          </a:xfrm>
          <a:prstGeom prst="roundRect">
            <a:avLst>
              <a:gd name="adj" fmla="val 21212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25896" y="2852928"/>
            <a:ext cx="39986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Пилот в корпусе 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025896" y="3090672"/>
            <a:ext cx="39986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Шесть камер и одноплатников, монтаж, домен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061143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250 000</a:t>
            </a: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₽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769864" y="3438144"/>
            <a:ext cx="5736031" cy="603504"/>
          </a:xfrm>
          <a:prstGeom prst="roundRect">
            <a:avLst>
              <a:gd name="adj" fmla="val 21212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25896" y="3511296"/>
            <a:ext cx="39986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 команды, 6 месяцев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025896" y="3749040"/>
            <a:ext cx="39986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Пять человек: инженерия, разработка, модели и отчётность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061143" y="3602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ru-RU" sz="1400" b="1" dirty="0">
                <a:solidFill>
                  <a:srgbClr val="23C5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₽</a:t>
            </a:r>
            <a:endParaRPr lang="en-US" sz="1400" dirty="0">
              <a:solidFill>
                <a:srgbClr val="23C55D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769864" y="4096512"/>
            <a:ext cx="5736031" cy="603504"/>
          </a:xfrm>
          <a:prstGeom prst="roundRect">
            <a:avLst>
              <a:gd name="adj" fmla="val 21212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25896" y="4169664"/>
            <a:ext cx="39986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Согласование и правовой режим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025896" y="4407408"/>
            <a:ext cx="39986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Регламент по 152-ФЗ и доступ к камерам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061143" y="4261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dirty="0">
                <a:solidFill>
                  <a:srgbClr val="23C5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35 000</a:t>
            </a: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₽</a:t>
            </a:r>
            <a:r>
              <a:rPr lang="ru-RU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400" dirty="0">
              <a:solidFill>
                <a:srgbClr val="23C55D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85800" y="4754880"/>
            <a:ext cx="4846320" cy="1207008"/>
          </a:xfrm>
          <a:prstGeom prst="roundRect">
            <a:avLst>
              <a:gd name="adj" fmla="val 10606"/>
            </a:avLst>
          </a:prstGeom>
          <a:solidFill>
            <a:srgbClr val="1D22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8408" y="4919472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345 000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978408" y="5303520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запрашиваемая сумма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78408" y="5522976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Команда проходит отбор в УМНИК и университетский акселератор; итоговая сумма зависит от выбранной программы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769864" y="4773168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ЭТО ДАЁТ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769864" y="5029200"/>
            <a:ext cx="5736031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· Окупаемость 6,3 месяца: деньгами считаем только 10% пользы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· 5 000 часов экономии в год на один корпус — 625 человеко-дней</a:t>
            </a:r>
            <a:endParaRPr lang="en-US" sz="1200" dirty="0"/>
          </a:p>
          <a:p>
            <a:pPr marL="0" indent="0" algn="l">
              <a:lnSpc>
                <a:spcPct val="122000"/>
              </a:lnSpc>
              <a:spcAft>
                <a:spcPts val="54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· Следующий корпус дешевле: детектор и сервер уже есть, нужны только камеры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0350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Источники: УМНИК и «Старт» Фонда содействия инновациям · гранты Росмолодёжи · акселератор ТИУ · служба эксплуатации</a:t>
            </a:r>
            <a:endParaRPr lang="en-US" sz="10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Команда и контакты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521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Пять человек, группа ИСАУБ-26-1. Прототип, обе модели и отчёты сделаны своими силами — без подряда и без закупок.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1988454" cy="2688336"/>
          </a:xfrm>
          <a:prstGeom prst="roundRect">
            <a:avLst>
              <a:gd name="adj" fmla="val 6438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pic>
        <p:nvPicPr>
          <p:cNvPr id="5" name="Image 0" descr="/Users/a1111/Desktop/TIU GO/presentation/assets/team/team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968" y="2011680"/>
            <a:ext cx="1586118" cy="1371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2104" y="3511296"/>
            <a:ext cx="1695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Тимлид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58952" y="3785616"/>
            <a:ext cx="18421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69E0C"/>
                </a:solidFill>
                <a:latin typeface="Segoe UI" pitchFamily="34" charset="0"/>
                <a:cs typeface="Segoe UI" pitchFamily="34" charset="-120"/>
              </a:rPr>
              <a:t>Никитин Матвей Олегович</a:t>
            </a:r>
            <a:endParaRPr lang="en-US" sz="1050" b="1" dirty="0">
              <a:solidFill>
                <a:srgbClr val="F69E0C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95528" y="4041648"/>
            <a:ext cx="1768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Планирование и защита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93710" y="1810512"/>
            <a:ext cx="1988454" cy="2688336"/>
          </a:xfrm>
          <a:prstGeom prst="roundRect">
            <a:avLst>
              <a:gd name="adj" fmla="val 6438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pic>
        <p:nvPicPr>
          <p:cNvPr id="10" name="Image 1" descr="/Users/a1111/Desktop/TIU GO/presentation/assets/team/team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94878" y="2011680"/>
            <a:ext cx="1586118" cy="1371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40014" y="3511296"/>
            <a:ext cx="1695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Инженер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983413" y="3785616"/>
            <a:ext cx="1878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69E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Кузнецов Сергей Андреевич</a:t>
            </a:r>
            <a:endParaRPr lang="en-US" sz="1050" b="1" dirty="0">
              <a:solidFill>
                <a:srgbClr val="F69E0C"/>
              </a:solidFill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003438" y="4041648"/>
            <a:ext cx="1768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Камера и диспетчеризация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01620" y="1810512"/>
            <a:ext cx="1988454" cy="2688336"/>
          </a:xfrm>
          <a:prstGeom prst="roundRect">
            <a:avLst>
              <a:gd name="adj" fmla="val 6438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pic>
        <p:nvPicPr>
          <p:cNvPr id="15" name="Image 2" descr="/Users/a1111/Desktop/TIU GO/presentation/assets/team/team1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02788" y="2011680"/>
            <a:ext cx="1586118" cy="1371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96108" y="3520440"/>
            <a:ext cx="1695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Расчёты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159532" y="3776472"/>
            <a:ext cx="1768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050" b="1" dirty="0" err="1">
                <a:solidFill>
                  <a:srgbClr val="F69E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Беленов</a:t>
            </a:r>
            <a:r>
              <a:rPr lang="ru-RU" sz="1050" b="1" dirty="0">
                <a:solidFill>
                  <a:srgbClr val="F69E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Егор Юрьевич</a:t>
            </a:r>
            <a:endParaRPr lang="en-US" sz="1050" b="1" dirty="0">
              <a:solidFill>
                <a:srgbClr val="F69E0C"/>
              </a:solidFill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5211348" y="4041648"/>
            <a:ext cx="1768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Техническая модель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09531" y="1810512"/>
            <a:ext cx="1988454" cy="2688336"/>
          </a:xfrm>
          <a:prstGeom prst="roundRect">
            <a:avLst>
              <a:gd name="adj" fmla="val 6438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pic>
        <p:nvPicPr>
          <p:cNvPr id="20" name="Image 3" descr="/Users/a1111/Desktop/TIU GO/presentation/assets/team/team4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10699" y="2011680"/>
            <a:ext cx="1586118" cy="1371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5835" y="3511296"/>
            <a:ext cx="1695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Разработка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346107" y="3785616"/>
            <a:ext cx="1915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050" b="1" dirty="0" err="1">
                <a:solidFill>
                  <a:srgbClr val="F69E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Роденко</a:t>
            </a:r>
            <a:r>
              <a:rPr lang="ru-RU" sz="1050" b="1" dirty="0">
                <a:solidFill>
                  <a:srgbClr val="F69E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Тимофей Павлович</a:t>
            </a:r>
            <a:endParaRPr lang="en-US" sz="1050" b="1" dirty="0">
              <a:solidFill>
                <a:srgbClr val="F69E0C"/>
              </a:solidFill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7419259" y="4041648"/>
            <a:ext cx="1768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Мини-апп, сервер, боты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17441" y="1810512"/>
            <a:ext cx="1988454" cy="2688336"/>
          </a:xfrm>
          <a:prstGeom prst="roundRect">
            <a:avLst>
              <a:gd name="adj" fmla="val 6438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pic>
        <p:nvPicPr>
          <p:cNvPr id="25" name="Image 4" descr="/Users/a1111/Desktop/TIU GO/presentation/assets/team/team5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18609" y="2011680"/>
            <a:ext cx="1586118" cy="1371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63745" y="3511296"/>
            <a:ext cx="1695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517441" y="3794760"/>
            <a:ext cx="19884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69E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Илюшкин Дмитрий Юрьевич</a:t>
            </a:r>
            <a:endParaRPr lang="en-US" sz="1050" b="1" dirty="0">
              <a:solidFill>
                <a:srgbClr val="F69E0C"/>
              </a:solidFill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9627169" y="4041648"/>
            <a:ext cx="1768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Локализация и отчёты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85800" y="4736592"/>
            <a:ext cx="6766560" cy="1280160"/>
          </a:xfrm>
          <a:prstGeom prst="roundRect">
            <a:avLst>
              <a:gd name="adj" fmla="val 10000"/>
            </a:avLst>
          </a:prstGeom>
          <a:solidFill>
            <a:srgbClr val="1D2230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96696" y="49743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Канал проекта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996696" y="51755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9E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https://t.me/tiu_go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4379976" y="49743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Исходный код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4379976" y="51023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9E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https://github.com/onetimaabudabi/tiu-go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96696" y="5486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Мини-приложение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996696" y="5687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1200" b="1" dirty="0">
                <a:solidFill>
                  <a:srgbClr val="F69E0C"/>
                </a:solidFill>
                <a:effectLst/>
                <a:latin typeface="Helvetica Neue" panose="02000503000000020004" pitchFamily="2" charset="0"/>
              </a:rPr>
              <a:t>https://</a:t>
            </a:r>
            <a:r>
              <a:rPr lang="en" sz="1200" b="1" dirty="0" err="1">
                <a:solidFill>
                  <a:srgbClr val="F69E0C"/>
                </a:solidFill>
                <a:effectLst/>
                <a:latin typeface="Helvetica Neue" panose="02000503000000020004" pitchFamily="2" charset="0"/>
              </a:rPr>
              <a:t>t.me</a:t>
            </a:r>
            <a:r>
              <a:rPr lang="en" sz="1200" b="1" dirty="0">
                <a:solidFill>
                  <a:srgbClr val="F69E0C"/>
                </a:solidFill>
                <a:effectLst/>
                <a:latin typeface="Helvetica Neue" panose="02000503000000020004" pitchFamily="2" charset="0"/>
              </a:rPr>
              <a:t>/</a:t>
            </a:r>
            <a:r>
              <a:rPr lang="en" sz="1200" b="1" dirty="0" err="1">
                <a:solidFill>
                  <a:srgbClr val="F69E0C"/>
                </a:solidFill>
                <a:effectLst/>
                <a:latin typeface="Helvetica Neue" panose="02000503000000020004" pitchFamily="2" charset="0"/>
              </a:rPr>
              <a:t>tiugo_bot</a:t>
            </a:r>
            <a:endParaRPr lang="en" sz="1200" b="1" dirty="0">
              <a:solidFill>
                <a:srgbClr val="F69E0C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4379976" y="5486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Почта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4379976" y="5687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cs typeface="Segoe UI" pitchFamily="34" charset="-120"/>
              </a:rPr>
              <a:t>trodenko565@gmail.com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7690104" y="4736592"/>
            <a:ext cx="3815791" cy="1280160"/>
          </a:xfrm>
          <a:prstGeom prst="roundRect">
            <a:avLst>
              <a:gd name="adj" fmla="val 10000"/>
            </a:avLst>
          </a:prstGeom>
          <a:solidFill>
            <a:srgbClr val="161A22"/>
          </a:solidFill>
          <a:ln w="12700">
            <a:solidFill>
              <a:srgbClr val="232833"/>
            </a:solidFill>
            <a:prstDash val="solid"/>
          </a:ln>
        </p:spPr>
      </p:sp>
      <p:pic>
        <p:nvPicPr>
          <p:cNvPr id="39" name="Image 5" descr="/Users/a1111/Desktop/TIU GO/presentation/assets/qr-telegram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91272" y="4901184"/>
            <a:ext cx="950976" cy="95097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988552" y="4901184"/>
            <a:ext cx="231617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Лифтов больше не станет.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Потерянного времени — станет меньше.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45936"/>
            <a:ext cx="9144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1748</Words>
  <Application>Microsoft Macintosh PowerPoint</Application>
  <PresentationFormat>Широкоэкранный</PresentationFormat>
  <Paragraphs>287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Helvetica Neue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Тюменский индустриальный университет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TIU GO — мониторинг загруженности лифтов</dc:title>
  <dc:subject>Презентация для инвесторов</dc:subject>
  <dc:creator>Команда ИСАУБ-26-1</dc:creator>
  <cp:lastModifiedBy>abudabi</cp:lastModifiedBy>
  <cp:revision>3</cp:revision>
  <dcterms:created xsi:type="dcterms:W3CDTF">2026-10-13T05:54:08Z</dcterms:created>
  <dcterms:modified xsi:type="dcterms:W3CDTF">2026-10-13T06:11:12Z</dcterms:modified>
</cp:coreProperties>
</file>